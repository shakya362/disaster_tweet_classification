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df9b495-8e4e-a977-7be0-6a706f2b3c0c}">
          <p14:sldIdLst>
            <p14:sldId id="256"/>
            <p14:sldId id="257"/>
            <p14:sldId id="258"/>
            <p14:sldId id="259"/>
          </p14:sldIdLst>
        </p14:section>
        <p14:section name="Data and EDA" id="{b9e9bce5-2cd3-8de7-1b01-642d9c843681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Modelling" id="{25244a63-70e9-854a-466c-09fe4f4e89ad}">
          <p14:sldIdLst>
            <p14:sldId id="266"/>
            <p14:sldId id="267"/>
            <p14:sldId id="268"/>
            <p14:sldId id="269"/>
            <p14:sldId id="270"/>
          </p14:sldIdLst>
        </p14:section>
        <p14:section name="Deployment and wrap-up" id="{1c29f319-438c-1a93-0c5b-d687faeb5350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2"/>
                </a:solidFill>
                <a:latin typeface="+mn-lt"/>
              </a:rPr>
              <a:t>Tweets by class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Tweets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C72B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34A33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Non-disaster</c:v>
                </c:pt>
                <c:pt idx="1">
                  <c:v>Disaster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4342</c:v>
                </c:pt>
                <c:pt idx="1">
                  <c:v>3271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B3A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2"/>
                </a:solidFill>
                <a:latin typeface="+mn-lt"/>
              </a:rPr>
              <a:t>Share of tweets that are real disasters, by keyword (n ≥ 20)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Disaster rate</c:v>
                </c:pt>
              </c:strCache>
            </c:strRef>
          </c:tx>
          <c:spPr>
            <a:solidFill>
              <a:srgbClr val="E34A33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34A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34A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34A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34A3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34A3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34A3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C72B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C72B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4C72B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4C72B0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4C72B0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4C72B0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wreckage</c:v>
                  </c:pt>
                  <c:pt idx="1">
                    <c:v>derailment</c:v>
                  </c:pt>
                  <c:pt idx="2">
                    <c:v>debris</c:v>
                  </c:pt>
                  <c:pt idx="3">
                    <c:v>outbreak</c:v>
                  </c:pt>
                  <c:pt idx="4">
                    <c:v>oil spill</c:v>
                  </c:pt>
                  <c:pt idx="5">
                    <c:v>typhoon</c:v>
                  </c:pt>
                  <c:pt idx="6">
                    <c:v>electrocute</c:v>
                  </c:pt>
                  <c:pt idx="7">
                    <c:v>body bag</c:v>
                  </c:pt>
                  <c:pt idx="8">
                    <c:v>blazing</c:v>
                  </c:pt>
                  <c:pt idx="9">
                    <c:v>ruin</c:v>
                  </c:pt>
                  <c:pt idx="10">
                    <c:v>body bags</c:v>
                  </c:pt>
                  <c:pt idx="11">
                    <c:v>aftershock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0.98</c:v>
                </c:pt>
                <c:pt idx="4">
                  <c:v>0.97</c:v>
                </c:pt>
                <c:pt idx="5">
                  <c:v>0.97</c:v>
                </c:pt>
                <c:pt idx="6">
                  <c:v>0.03</c:v>
                </c:pt>
                <c:pt idx="7">
                  <c:v>0.03</c:v>
                </c:pt>
                <c:pt idx="8">
                  <c:v>0.03</c:v>
                </c:pt>
                <c:pt idx="9">
                  <c:v>0.03</c:v>
                </c:pt>
                <c:pt idx="10">
                  <c:v>0.02</c:v>
                </c:pt>
                <c:pt idx="11">
                  <c:v>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B243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A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3A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2"/>
                </a:solidFill>
                <a:latin typeface="+mn-lt"/>
              </a:rPr>
              <a:t>% of tweets in each class that contain the feature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Non-disaster</c:v>
                </c:pt>
              </c:strCache>
            </c:strRef>
          </c:tx>
          <c:spPr>
            <a:solidFill>
              <a:srgbClr val="4C72B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Contains URL</c:v>
                  </c:pt>
                  <c:pt idx="1">
                    <c:v>Contains digit</c:v>
                  </c:pt>
                  <c:pt idx="2">
                    <c:v>Has hashtag</c:v>
                  </c:pt>
                  <c:pt idx="3">
                    <c:v>Has @mention</c:v>
                  </c:pt>
                  <c:pt idx="4">
                    <c:v>Has ?</c:v>
                  </c:pt>
                  <c:pt idx="5">
                    <c:v>Has !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41.4</c:v>
                </c:pt>
                <c:pt idx="1">
                  <c:v>51</c:v>
                </c:pt>
                <c:pt idx="2">
                  <c:v>20.4</c:v>
                </c:pt>
                <c:pt idx="3">
                  <c:v>31</c:v>
                </c:pt>
                <c:pt idx="4">
                  <c:v>17.3</c:v>
                </c:pt>
                <c:pt idx="5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Disaster</c:v>
                </c:pt>
              </c:strCache>
            </c:strRef>
          </c:tx>
          <c:spPr>
            <a:solidFill>
              <a:srgbClr val="E34A3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Contains URL</c:v>
                  </c:pt>
                  <c:pt idx="1">
                    <c:v>Contains digit</c:v>
                  </c:pt>
                  <c:pt idx="2">
                    <c:v>Has hashtag</c:v>
                  </c:pt>
                  <c:pt idx="3">
                    <c:v>Has @mention</c:v>
                  </c:pt>
                  <c:pt idx="4">
                    <c:v>Has ?</c:v>
                  </c:pt>
                  <c:pt idx="5">
                    <c:v>Has !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66.4</c:v>
                </c:pt>
                <c:pt idx="1">
                  <c:v>73.9</c:v>
                </c:pt>
                <c:pt idx="2">
                  <c:v>26.3</c:v>
                </c:pt>
                <c:pt idx="3">
                  <c:v>20.4</c:v>
                </c:pt>
                <c:pt idx="4">
                  <c:v>8.9</c:v>
                </c:pt>
                <c:pt idx="5">
                  <c:v>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A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3A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3A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2"/>
                </a:solidFill>
                <a:latin typeface="+mn-lt"/>
              </a:rPr>
              <a:t>5-fold cross-validated F1 on the training set (axis starts at 0.50)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F1</c:v>
                </c:pt>
              </c:strCache>
            </c:strRef>
          </c:tx>
          <c:spPr>
            <a:solidFill>
              <a:srgbClr val="E34A3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34A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34A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C72B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C72B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A869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Logistic Regression</c:v>
                  </c:pt>
                  <c:pt idx="1">
                    <c:v>Linear SVM</c:v>
                  </c:pt>
                  <c:pt idx="2">
                    <c:v>MLP</c:v>
                  </c:pt>
                  <c:pt idx="3">
                    <c:v>Multinomial NB</c:v>
                  </c:pt>
                  <c:pt idx="4">
                    <c:v>Random Forest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0.7595</c:v>
                </c:pt>
                <c:pt idx="1">
                  <c:v>0.7584</c:v>
                </c:pt>
                <c:pt idx="2">
                  <c:v>0.7543</c:v>
                </c:pt>
                <c:pt idx="3">
                  <c:v>0.7489</c:v>
                </c:pt>
                <c:pt idx="4">
                  <c:v>0.699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A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.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3A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2"/>
                </a:solidFill>
                <a:latin typeface="+mn-lt"/>
              </a:rPr>
              <a:t>Held-out test set (1,497 tweets); axis starts at 0.40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4C72B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SVM (tuned)</c:v>
                  </c:pt>
                  <c:pt idx="1">
                    <c:v>LogReg (tuned)</c:v>
                  </c:pt>
                  <c:pt idx="2">
                    <c:v>MLP</c:v>
                  </c:pt>
                  <c:pt idx="3">
                    <c:v>Naive Bayes</c:v>
                  </c:pt>
                  <c:pt idx="4">
                    <c:v>Random Forest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0.763</c:v>
                </c:pt>
                <c:pt idx="1">
                  <c:v>0.744</c:v>
                </c:pt>
                <c:pt idx="2">
                  <c:v>0.837</c:v>
                </c:pt>
                <c:pt idx="3">
                  <c:v>0.843</c:v>
                </c:pt>
                <c:pt idx="4">
                  <c:v>0.797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E34A3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SVM (tuned)</c:v>
                  </c:pt>
                  <c:pt idx="1">
                    <c:v>LogReg (tuned)</c:v>
                  </c:pt>
                  <c:pt idx="2">
                    <c:v>MLP</c:v>
                  </c:pt>
                  <c:pt idx="3">
                    <c:v>Naive Bayes</c:v>
                  </c:pt>
                  <c:pt idx="4">
                    <c:v>Random Forest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0.712</c:v>
                </c:pt>
                <c:pt idx="1">
                  <c:v>0.729</c:v>
                </c:pt>
                <c:pt idx="2">
                  <c:v>0.629</c:v>
                </c:pt>
                <c:pt idx="3">
                  <c:v>0.621</c:v>
                </c:pt>
                <c:pt idx="4">
                  <c:v>0.58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SVM (tuned)</c:v>
                  </c:pt>
                  <c:pt idx="1">
                    <c:v>LogReg (tuned)</c:v>
                  </c:pt>
                  <c:pt idx="2">
                    <c:v>MLP</c:v>
                  </c:pt>
                  <c:pt idx="3">
                    <c:v>Naive Bayes</c:v>
                  </c:pt>
                  <c:pt idx="4">
                    <c:v>Random Forest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0.736</c:v>
                </c:pt>
                <c:pt idx="1">
                  <c:v>0.736</c:v>
                </c:pt>
                <c:pt idx="2">
                  <c:v>0.718</c:v>
                </c:pt>
                <c:pt idx="3">
                  <c:v>0.715</c:v>
                </c:pt>
                <c:pt idx="4">
                  <c:v>0.672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A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5"/>
          <c:min val="0.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3A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3A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report for the NLP disaster tweet classification challenge. Covers data exploration, feature engineering, model selection, evaluation and the live Streamlit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Headline: a tuned Linear SVM reaches F1 0.736 and ROC-AUC 0.844 on held-out tweets and is deployed as a live app. The EDA shows where the signal is (keyword, news-style text) and why accuracy plateaus (label noise).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difficulty is intent: literal versus figurative use of disaster vocabulary. The four objectives come from the project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cleaning and feature code is imported by training and by both apps, which avoids training/serving skew.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columns. keyword is nearly complete, location is a third missing and free text. The brief quotes roughly 10,000 tweets but the supplied file has 7,613.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4,342 non-disaster versus 3,271 disaster tweets. The imbalance is mild, so we use class weights and stratified splitting rather than resampling.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Frequent keywords (n &gt;= 20): 216 of 221. Red bars are near-certain disasters, blue bars are almost always non-disasters. The keyword is kept as a feature but cannot decide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Differences in length and word length are significant (Mann-Whitney p below 1e-45). URL presence is already a model feature; digit presence is a candidate to add.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62k tokens after cleaning, 38% of raw tokens are stop-words. Bigrams are why we use 1-2 gram TF-IDF.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Identical tweet text appears with both labels, for example a Hellfire reflection tweet labelled 0 and 1. This sets a ceiling on achievable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Keeping negations matters in tweets. Meta-features are min-max scaled so Naive Bayes can use them. Word embeddings (Word2Vec/GloVe) were not used because no embedding library was available in the build environment; they are listed as a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Five-fold stratified CV on 5,988 training tweets. Because the top models differ by less than the fold-to-fold spread, the final choice rests on test performance, recall and the ability to output calibrated probabilities.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Accuracy ranges from 0.758 (Random Forest) to 0.790 (MLP). The app's threshold slider lets an operator trade recall against precision.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test metrics for the tuned Linear SVM. The train/test gap is a known limitation; stronger regularisation, more data or pre-trained embeddings are the main levers.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analysis: the highest-confidence errors are often questionable labels. Fixing labels and adding contextual embeddings are the most promising improvements.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deployed app loads the same pickled pipeline used in training. Tabs: classify a single tweet, score a CSV/Excel file in batch, and a model card. A Flask version is also included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Wrap-up. The model is deployed and usable today; the EDA points to concrete, low-cost feature improvements, and embeddings or a transformer are the larger upgrade.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65836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282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Disaster Tweet Classification  |  Ashish Kumar, Next Hikes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isastertweetclassification-n.streamlit.app/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isastertweetclassification-n.streamlit.app/" TargetMode="External"/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hyperlink" Target="https://disastertweetclassification-n.streamlit.app/" TargetMode="External"/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Disaster Tweet Classification</a:t>
            </a: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End-to-end NLP project report: exploration, modelling and live deployment</a:t>
            </a:r>
            <a:endParaRPr lang="en-US" sz="2000" dirty="0"/>
          </a:p>
        </p:txBody>
      </p:sp>
      <p:sp>
        <p:nvSpPr>
          <p:cNvPr id="4" name="ring-outer"/>
          <p:cNvSpPr/>
          <p:nvPr/>
        </p:nvSpPr>
        <p:spPr>
          <a:xfrm>
            <a:off x="7955280" y="1097280"/>
            <a:ext cx="3840480" cy="384048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ring-mid"/>
          <p:cNvSpPr/>
          <p:nvPr/>
        </p:nvSpPr>
        <p:spPr>
          <a:xfrm>
            <a:off x="8595360" y="1737360"/>
            <a:ext cx="2560320" cy="2560320"/>
          </a:xfrm>
          <a:prstGeom prst="ellipse">
            <a:avLst/>
          </a:prstGeom>
          <a:solidFill>
            <a:schemeClr val="accent1">
              <a:alpha val="2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hero-circle"/>
          <p:cNvSpPr/>
          <p:nvPr/>
        </p:nvSpPr>
        <p:spPr>
          <a:xfrm>
            <a:off x="9144000" y="2286000"/>
            <a:ext cx="1463040" cy="1463040"/>
          </a:xfrm>
          <a:prstGeom prst="ellipse">
            <a:avLst/>
          </a:prstGeom>
          <a:solidFill>
            <a:srgbClr val="E34A33"/>
          </a:solidFill>
          <a:ln w="12700">
            <a:solidFill>
              <a:srgbClr val="E34A33"/>
            </a:solidFill>
            <a:prstDash val="solid"/>
          </a:ln>
        </p:spPr>
      </p:sp>
      <p:pic>
        <p:nvPicPr>
          <p:cNvPr id="7" name="hero-icon" descr="ExclamationTriang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5869" y="2607869"/>
            <a:ext cx="819302" cy="819302"/>
          </a:xfrm>
          <a:prstGeom prst="rect">
            <a:avLst/>
          </a:prstGeom>
        </p:spPr>
      </p:pic>
      <p:sp>
        <p:nvSpPr>
          <p:cNvPr id="8" name="author"/>
          <p:cNvSpPr txBox="1"/>
          <p:nvPr/>
        </p:nvSpPr>
        <p:spPr>
          <a:xfrm>
            <a:off x="731520" y="48920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Ashish Kumar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Data Scientist, Next Hikes  |  15 October 2026</a:t>
            </a:r>
            <a:endParaRPr lang="en-US" sz="1800" dirty="0"/>
          </a:p>
        </p:txBody>
      </p:sp>
      <p:sp>
        <p:nvSpPr>
          <p:cNvPr id="9" name="url-chip"/>
          <p:cNvSpPr/>
          <p:nvPr/>
        </p:nvSpPr>
        <p:spPr>
          <a:xfrm>
            <a:off x="731520" y="5760720"/>
            <a:ext cx="7863840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url-text"/>
          <p:cNvSpPr txBox="1"/>
          <p:nvPr/>
        </p:nvSpPr>
        <p:spPr>
          <a:xfrm>
            <a:off x="960120" y="576072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Live app:  </a:t>
            </a:r>
            <a:pPr indent="0" marL="0">
              <a:buNone/>
            </a:pPr>
            <a:r>
              <a:rPr lang="en-US" sz="1500" b="1" u="sng" dirty="0">
                <a:solidFill>
                  <a:srgbClr val="000000"/>
                </a:solidFill>
                <a:hlinkClick r:id="rId2" invalidUrl="" action="" tgtFrame="" tooltip="Open the live ap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https://disastertweetclassification-n.streamlit.app/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Executive summary</a:t>
            </a:r>
            <a:endParaRPr lang="en-US" sz="3400" dirty="0"/>
          </a:p>
        </p:txBody>
      </p:sp>
      <p:sp>
        <p:nvSpPr>
          <p:cNvPr id="3" name="exec-stat-1"/>
          <p:cNvSpPr/>
          <p:nvPr/>
        </p:nvSpPr>
        <p:spPr>
          <a:xfrm>
            <a:off x="548640" y="137160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exec-stat-1-num"/>
          <p:cNvSpPr txBox="1"/>
          <p:nvPr/>
        </p:nvSpPr>
        <p:spPr>
          <a:xfrm>
            <a:off x="731520" y="1481328"/>
            <a:ext cx="2240280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7,613</a:t>
            </a:r>
            <a:endParaRPr lang="en-US" sz="3800" dirty="0"/>
          </a:p>
        </p:txBody>
      </p:sp>
      <p:sp>
        <p:nvSpPr>
          <p:cNvPr id="5" name="exec-stat-1-label"/>
          <p:cNvSpPr txBox="1"/>
          <p:nvPr/>
        </p:nvSpPr>
        <p:spPr>
          <a:xfrm>
            <a:off x="731520" y="2246681"/>
            <a:ext cx="224028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labelled tweets analysed, 43% real disasters</a:t>
            </a:r>
            <a:endParaRPr lang="en-US" sz="1400" dirty="0"/>
          </a:p>
        </p:txBody>
      </p:sp>
      <p:sp>
        <p:nvSpPr>
          <p:cNvPr id="6" name="exec-stat-2"/>
          <p:cNvSpPr/>
          <p:nvPr/>
        </p:nvSpPr>
        <p:spPr>
          <a:xfrm>
            <a:off x="3378098" y="137160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exec-stat-2-num"/>
          <p:cNvSpPr txBox="1"/>
          <p:nvPr/>
        </p:nvSpPr>
        <p:spPr>
          <a:xfrm>
            <a:off x="3560978" y="1481328"/>
            <a:ext cx="2240280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0.736</a:t>
            </a:r>
            <a:endParaRPr lang="en-US" sz="3800" dirty="0"/>
          </a:p>
        </p:txBody>
      </p:sp>
      <p:sp>
        <p:nvSpPr>
          <p:cNvPr id="8" name="exec-stat-2-label"/>
          <p:cNvSpPr txBox="1"/>
          <p:nvPr/>
        </p:nvSpPr>
        <p:spPr>
          <a:xfrm>
            <a:off x="3560978" y="2246681"/>
            <a:ext cx="224028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F1-score on 1,497 held-out tweets</a:t>
            </a:r>
            <a:endParaRPr lang="en-US" sz="1400" dirty="0"/>
          </a:p>
        </p:txBody>
      </p:sp>
      <p:sp>
        <p:nvSpPr>
          <p:cNvPr id="9" name="exec-stat-3"/>
          <p:cNvSpPr/>
          <p:nvPr/>
        </p:nvSpPr>
        <p:spPr>
          <a:xfrm>
            <a:off x="6207557" y="137160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exec-stat-3-num"/>
          <p:cNvSpPr txBox="1"/>
          <p:nvPr/>
        </p:nvSpPr>
        <p:spPr>
          <a:xfrm>
            <a:off x="6390437" y="1481328"/>
            <a:ext cx="2240280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0.844</a:t>
            </a:r>
            <a:endParaRPr lang="en-US" sz="3800" dirty="0"/>
          </a:p>
        </p:txBody>
      </p:sp>
      <p:sp>
        <p:nvSpPr>
          <p:cNvPr id="11" name="exec-stat-3-label"/>
          <p:cNvSpPr txBox="1"/>
          <p:nvPr/>
        </p:nvSpPr>
        <p:spPr>
          <a:xfrm>
            <a:off x="6390437" y="2246681"/>
            <a:ext cx="224028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ROC-AUC of the final Linear SVM</a:t>
            </a:r>
            <a:endParaRPr lang="en-US" sz="1400" dirty="0"/>
          </a:p>
        </p:txBody>
      </p:sp>
      <p:sp>
        <p:nvSpPr>
          <p:cNvPr id="12" name="exec-stat-4"/>
          <p:cNvSpPr/>
          <p:nvPr/>
        </p:nvSpPr>
        <p:spPr>
          <a:xfrm>
            <a:off x="9037015" y="137160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exec-stat-4-num"/>
          <p:cNvSpPr txBox="1"/>
          <p:nvPr/>
        </p:nvSpPr>
        <p:spPr>
          <a:xfrm>
            <a:off x="9219895" y="1481328"/>
            <a:ext cx="2240280" cy="784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3800" dirty="0"/>
          </a:p>
        </p:txBody>
      </p:sp>
      <p:sp>
        <p:nvSpPr>
          <p:cNvPr id="14" name="exec-stat-4-label"/>
          <p:cNvSpPr txBox="1"/>
          <p:nvPr/>
        </p:nvSpPr>
        <p:spPr>
          <a:xfrm>
            <a:off x="9219895" y="2246681"/>
            <a:ext cx="224028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Streamlit app deployed on the cloud</a:t>
            </a:r>
            <a:endParaRPr lang="en-US" sz="1400" dirty="0"/>
          </a:p>
        </p:txBody>
      </p:sp>
      <p:sp>
        <p:nvSpPr>
          <p:cNvPr id="15" name="exec-head-1"/>
          <p:cNvSpPr txBox="1"/>
          <p:nvPr/>
        </p:nvSpPr>
        <p:spPr>
          <a:xfrm>
            <a:off x="548640" y="3200400"/>
            <a:ext cx="3484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2200" dirty="0"/>
          </a:p>
        </p:txBody>
      </p:sp>
      <p:sp>
        <p:nvSpPr>
          <p:cNvPr id="16" name="exec-body-1"/>
          <p:cNvSpPr txBox="1"/>
          <p:nvPr/>
        </p:nvSpPr>
        <p:spPr>
          <a:xfrm>
            <a:off x="548640" y="3703320"/>
            <a:ext cx="348477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keyword is the strongest single signal, yet the same word is used literally and figuratively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Disaster tweets read like news: links, numbers, longer words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Noisy labels cap accuracy near 80%</a:t>
            </a:r>
            <a:endParaRPr lang="en-US" sz="1800" dirty="0"/>
          </a:p>
        </p:txBody>
      </p:sp>
      <p:sp>
        <p:nvSpPr>
          <p:cNvPr id="17" name="exec-head-2"/>
          <p:cNvSpPr txBox="1"/>
          <p:nvPr/>
        </p:nvSpPr>
        <p:spPr>
          <a:xfrm>
            <a:off x="4353458" y="3200400"/>
            <a:ext cx="3484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2200" dirty="0"/>
          </a:p>
        </p:txBody>
      </p:sp>
      <p:sp>
        <p:nvSpPr>
          <p:cNvPr id="18" name="exec-body-2"/>
          <p:cNvSpPr txBox="1"/>
          <p:nvPr/>
        </p:nvSpPr>
        <p:spPr>
          <a:xfrm>
            <a:off x="4353458" y="3703320"/>
            <a:ext cx="348477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EDA, cleaning, TF-IDF plus meta-features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Five models compared with cross-validation and grid search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Flask and Streamlit apps with batch scoring</a:t>
            </a:r>
            <a:endParaRPr lang="en-US" sz="1800" dirty="0"/>
          </a:p>
        </p:txBody>
      </p:sp>
      <p:sp>
        <p:nvSpPr>
          <p:cNvPr id="19" name="exec-head-3"/>
          <p:cNvSpPr txBox="1"/>
          <p:nvPr/>
        </p:nvSpPr>
        <p:spPr>
          <a:xfrm>
            <a:off x="8158277" y="3200400"/>
            <a:ext cx="3484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20" name="exec-body-3"/>
          <p:cNvSpPr txBox="1"/>
          <p:nvPr/>
        </p:nvSpPr>
        <p:spPr>
          <a:xfrm>
            <a:off x="8158277" y="3703320"/>
            <a:ext cx="348477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Add digit and URL-pattern features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Try GloVe or BERTweet embeddings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Review noisy labels and tune the threshold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Why disaster tweets are hard to classify</a:t>
            </a:r>
            <a:endParaRPr lang="en-US" sz="3400" dirty="0"/>
          </a:p>
        </p:txBody>
      </p:sp>
      <p:sp>
        <p:nvSpPr>
          <p:cNvPr id="3" name="prob-head"/>
          <p:cNvSpPr txBox="1"/>
          <p:nvPr/>
        </p:nvSpPr>
        <p:spPr>
          <a:xfrm>
            <a:off x="54864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word means different things</a:t>
            </a:r>
            <a:endParaRPr lang="en-US" sz="2000" dirty="0"/>
          </a:p>
        </p:txBody>
      </p:sp>
      <p:sp>
        <p:nvSpPr>
          <p:cNvPr id="4" name="prob-lead"/>
          <p:cNvSpPr txBox="1"/>
          <p:nvPr/>
        </p:nvSpPr>
        <p:spPr>
          <a:xfrm>
            <a:off x="548640" y="181051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Relief agencies and newsrooms want real-time alerts from Twitter, but words like “fire” or “flood” are often used as metaphors.</a:t>
            </a:r>
            <a:endParaRPr lang="en-US" sz="1700" dirty="0"/>
          </a:p>
        </p:txBody>
      </p:sp>
      <p:sp>
        <p:nvSpPr>
          <p:cNvPr id="5" name="prob-ex-1"/>
          <p:cNvSpPr/>
          <p:nvPr/>
        </p:nvSpPr>
        <p:spPr>
          <a:xfrm>
            <a:off x="548640" y="2880360"/>
            <a:ext cx="493776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rob-ex-1-text"/>
          <p:cNvSpPr txBox="1"/>
          <p:nvPr/>
        </p:nvSpPr>
        <p:spPr>
          <a:xfrm>
            <a:off x="777240" y="30175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“Forest fire near La Ronge Sask. Canada”</a:t>
            </a:r>
            <a:endParaRPr lang="en-US" sz="1800" dirty="0"/>
          </a:p>
        </p:txBody>
      </p:sp>
      <p:sp>
        <p:nvSpPr>
          <p:cNvPr id="7" name="prob-ex-1-pill"/>
          <p:cNvSpPr/>
          <p:nvPr/>
        </p:nvSpPr>
        <p:spPr>
          <a:xfrm>
            <a:off x="777240" y="3685032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34A33"/>
          </a:solidFill>
          <a:ln w="12700">
            <a:solidFill>
              <a:srgbClr val="E34A33"/>
            </a:solidFill>
            <a:prstDash val="solid"/>
          </a:ln>
        </p:spPr>
      </p:sp>
      <p:sp>
        <p:nvSpPr>
          <p:cNvPr id="8" name="prob-ex-1-pilltext"/>
          <p:cNvSpPr txBox="1"/>
          <p:nvPr/>
        </p:nvSpPr>
        <p:spPr>
          <a:xfrm>
            <a:off x="777240" y="36850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Real disaster</a:t>
            </a:r>
            <a:endParaRPr lang="en-US" sz="1200" dirty="0"/>
          </a:p>
        </p:txBody>
      </p:sp>
      <p:sp>
        <p:nvSpPr>
          <p:cNvPr id="9" name="prob-ex-2"/>
          <p:cNvSpPr/>
          <p:nvPr/>
        </p:nvSpPr>
        <p:spPr>
          <a:xfrm>
            <a:off x="548640" y="4297680"/>
            <a:ext cx="493776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rob-ex-2-text"/>
          <p:cNvSpPr txBox="1"/>
          <p:nvPr/>
        </p:nvSpPr>
        <p:spPr>
          <a:xfrm>
            <a:off x="777240" y="443484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“This new album is the bomb lol”</a:t>
            </a:r>
            <a:endParaRPr lang="en-US" sz="1800" dirty="0"/>
          </a:p>
        </p:txBody>
      </p:sp>
      <p:sp>
        <p:nvSpPr>
          <p:cNvPr id="11" name="prob-ex-2-pill"/>
          <p:cNvSpPr/>
          <p:nvPr/>
        </p:nvSpPr>
        <p:spPr>
          <a:xfrm>
            <a:off x="777240" y="5102352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12" name="prob-ex-2-pilltext"/>
          <p:cNvSpPr txBox="1"/>
          <p:nvPr/>
        </p:nvSpPr>
        <p:spPr>
          <a:xfrm>
            <a:off x="777240" y="51023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Not a disaster</a:t>
            </a:r>
            <a:endParaRPr lang="en-US" sz="1200" dirty="0"/>
          </a:p>
        </p:txBody>
      </p:sp>
      <p:sp>
        <p:nvSpPr>
          <p:cNvPr id="13" name="obj-1-circle"/>
          <p:cNvSpPr/>
          <p:nvPr/>
        </p:nvSpPr>
        <p:spPr>
          <a:xfrm>
            <a:off x="6309360" y="1417320"/>
            <a:ext cx="731520" cy="731520"/>
          </a:xfrm>
          <a:prstGeom prst="ellipse">
            <a:avLst/>
          </a:prstGeom>
          <a:solidFill>
            <a:srgbClr val="E34A33"/>
          </a:solidFill>
          <a:ln w="12700">
            <a:solidFill>
              <a:srgbClr val="E34A33"/>
            </a:solidFill>
            <a:prstDash val="solid"/>
          </a:ln>
        </p:spPr>
      </p:sp>
      <p:pic>
        <p:nvPicPr>
          <p:cNvPr id="14" name="obj-1-icon" descr="Bullsey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0294" y="1578254"/>
            <a:ext cx="409651" cy="409651"/>
          </a:xfrm>
          <a:prstGeom prst="rect">
            <a:avLst/>
          </a:prstGeom>
        </p:spPr>
      </p:pic>
      <p:sp>
        <p:nvSpPr>
          <p:cNvPr id="15" name="obj-1-head"/>
          <p:cNvSpPr txBox="1"/>
          <p:nvPr/>
        </p:nvSpPr>
        <p:spPr>
          <a:xfrm>
            <a:off x="7269480" y="1399032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Classification model</a:t>
            </a:r>
            <a:endParaRPr lang="en-US" sz="2000" dirty="0"/>
          </a:p>
        </p:txBody>
      </p:sp>
      <p:sp>
        <p:nvSpPr>
          <p:cNvPr id="16" name="obj-1-desc"/>
          <p:cNvSpPr txBox="1"/>
          <p:nvPr/>
        </p:nvSpPr>
        <p:spPr>
          <a:xfrm>
            <a:off x="7269480" y="1783080"/>
            <a:ext cx="4370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Predict whether a tweet is about a real disaster</a:t>
            </a:r>
            <a:endParaRPr lang="en-US" sz="1600" dirty="0"/>
          </a:p>
        </p:txBody>
      </p:sp>
      <p:sp>
        <p:nvSpPr>
          <p:cNvPr id="17" name="obj-2-circle"/>
          <p:cNvSpPr/>
          <p:nvPr/>
        </p:nvSpPr>
        <p:spPr>
          <a:xfrm>
            <a:off x="6309360" y="2606040"/>
            <a:ext cx="731520" cy="731520"/>
          </a:xfrm>
          <a:prstGeom prst="ellipse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pic>
        <p:nvPicPr>
          <p:cNvPr id="18" name="obj-2-icon" descr="ShieldAl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294" y="2766974"/>
            <a:ext cx="409651" cy="409651"/>
          </a:xfrm>
          <a:prstGeom prst="rect">
            <a:avLst/>
          </a:prstGeom>
        </p:spPr>
      </p:pic>
      <p:sp>
        <p:nvSpPr>
          <p:cNvPr id="19" name="obj-2-head"/>
          <p:cNvSpPr txBox="1"/>
          <p:nvPr/>
        </p:nvSpPr>
        <p:spPr>
          <a:xfrm>
            <a:off x="7269480" y="2587752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Accuracy and precision</a:t>
            </a:r>
            <a:endParaRPr lang="en-US" sz="2000" dirty="0"/>
          </a:p>
        </p:txBody>
      </p:sp>
      <p:sp>
        <p:nvSpPr>
          <p:cNvPr id="20" name="obj-2-desc"/>
          <p:cNvSpPr txBox="1"/>
          <p:nvPr/>
        </p:nvSpPr>
        <p:spPr>
          <a:xfrm>
            <a:off x="7269480" y="2971800"/>
            <a:ext cx="4370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Keep false alarms low for timely, trustworthy alerts</a:t>
            </a:r>
            <a:endParaRPr lang="en-US" sz="1600" dirty="0"/>
          </a:p>
        </p:txBody>
      </p:sp>
      <p:sp>
        <p:nvSpPr>
          <p:cNvPr id="21" name="obj-3-circle"/>
          <p:cNvSpPr/>
          <p:nvPr/>
        </p:nvSpPr>
        <p:spPr>
          <a:xfrm>
            <a:off x="6309360" y="3794760"/>
            <a:ext cx="731520" cy="731520"/>
          </a:xfrm>
          <a:prstGeom prst="ellipse">
            <a:avLst/>
          </a:prstGeom>
          <a:solidFill>
            <a:srgbClr val="2E9E83"/>
          </a:solidFill>
          <a:ln w="12700">
            <a:solidFill>
              <a:srgbClr val="2E9E83"/>
            </a:solidFill>
            <a:prstDash val="solid"/>
          </a:ln>
        </p:spPr>
      </p:sp>
      <p:pic>
        <p:nvPicPr>
          <p:cNvPr id="22" name="obj-3-icon" descr="Glob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294" y="3955694"/>
            <a:ext cx="409651" cy="409651"/>
          </a:xfrm>
          <a:prstGeom prst="rect">
            <a:avLst/>
          </a:prstGeom>
        </p:spPr>
      </p:pic>
      <p:sp>
        <p:nvSpPr>
          <p:cNvPr id="23" name="obj-3-head"/>
          <p:cNvSpPr txBox="1"/>
          <p:nvPr/>
        </p:nvSpPr>
        <p:spPr>
          <a:xfrm>
            <a:off x="7269480" y="3776472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Robustness</a:t>
            </a:r>
            <a:endParaRPr lang="en-US" sz="2000" dirty="0"/>
          </a:p>
        </p:txBody>
      </p:sp>
      <p:sp>
        <p:nvSpPr>
          <p:cNvPr id="24" name="obj-3-desc"/>
          <p:cNvSpPr txBox="1"/>
          <p:nvPr/>
        </p:nvSpPr>
        <p:spPr>
          <a:xfrm>
            <a:off x="7269480" y="4160520"/>
            <a:ext cx="4370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Handle slang, abbreviations and cultural nuance</a:t>
            </a:r>
            <a:endParaRPr lang="en-US" sz="1600" dirty="0"/>
          </a:p>
        </p:txBody>
      </p:sp>
      <p:sp>
        <p:nvSpPr>
          <p:cNvPr id="25" name="obj-4-circle"/>
          <p:cNvSpPr/>
          <p:nvPr/>
        </p:nvSpPr>
        <p:spPr>
          <a:xfrm>
            <a:off x="6309360" y="4983480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26" name="obj-4-icon" descr="Bol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0294" y="5144414"/>
            <a:ext cx="409651" cy="409651"/>
          </a:xfrm>
          <a:prstGeom prst="rect">
            <a:avLst/>
          </a:prstGeom>
        </p:spPr>
      </p:pic>
      <p:sp>
        <p:nvSpPr>
          <p:cNvPr id="27" name="obj-4-head"/>
          <p:cNvSpPr txBox="1"/>
          <p:nvPr/>
        </p:nvSpPr>
        <p:spPr>
          <a:xfrm>
            <a:off x="7269480" y="4965192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Scalability</a:t>
            </a:r>
            <a:endParaRPr lang="en-US" sz="2000" dirty="0"/>
          </a:p>
        </p:txBody>
      </p:sp>
      <p:sp>
        <p:nvSpPr>
          <p:cNvPr id="28" name="obj-4-desc"/>
          <p:cNvSpPr txBox="1"/>
          <p:nvPr/>
        </p:nvSpPr>
        <p:spPr>
          <a:xfrm>
            <a:off x="7269480" y="5349240"/>
            <a:ext cx="4370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Score large volumes of tweets; deploy as a web app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Our approach: five steps, one pipeline</a:t>
            </a:r>
            <a:endParaRPr lang="en-US" sz="3400" dirty="0"/>
          </a:p>
        </p:txBody>
      </p:sp>
      <p:sp>
        <p:nvSpPr>
          <p:cNvPr id="3" name="step-1"/>
          <p:cNvSpPr/>
          <p:nvPr/>
        </p:nvSpPr>
        <p:spPr>
          <a:xfrm>
            <a:off x="548640" y="1463040"/>
            <a:ext cx="2057400" cy="35204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-1-circle"/>
          <p:cNvSpPr/>
          <p:nvPr/>
        </p:nvSpPr>
        <p:spPr>
          <a:xfrm>
            <a:off x="777240" y="1691640"/>
            <a:ext cx="731520" cy="731520"/>
          </a:xfrm>
          <a:prstGeom prst="ellipse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pic>
        <p:nvPicPr>
          <p:cNvPr id="5" name="step-1-icon" descr="Search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174" y="1852574"/>
            <a:ext cx="409651" cy="409651"/>
          </a:xfrm>
          <a:prstGeom prst="rect">
            <a:avLst/>
          </a:prstGeom>
        </p:spPr>
      </p:pic>
      <p:sp>
        <p:nvSpPr>
          <p:cNvPr id="6" name="step-1-num"/>
          <p:cNvSpPr txBox="1"/>
          <p:nvPr/>
        </p:nvSpPr>
        <p:spPr>
          <a:xfrm>
            <a:off x="201168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tep-1-head"/>
          <p:cNvSpPr txBox="1"/>
          <p:nvPr/>
        </p:nvSpPr>
        <p:spPr>
          <a:xfrm>
            <a:off x="777240" y="2606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</a:t>
            </a:r>
            <a:endParaRPr lang="en-US" sz="2000" dirty="0"/>
          </a:p>
        </p:txBody>
      </p:sp>
      <p:sp>
        <p:nvSpPr>
          <p:cNvPr id="8" name="step-1-desc"/>
          <p:cNvSpPr txBox="1"/>
          <p:nvPr/>
        </p:nvSpPr>
        <p:spPr>
          <a:xfrm>
            <a:off x="777240" y="306324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Structure, balance, keywords, text patterns, noise</a:t>
            </a:r>
            <a:endParaRPr lang="en-US" sz="1500" dirty="0"/>
          </a:p>
        </p:txBody>
      </p:sp>
      <p:sp>
        <p:nvSpPr>
          <p:cNvPr id="9" name="step-1-out"/>
          <p:cNvSpPr txBox="1"/>
          <p:nvPr/>
        </p:nvSpPr>
        <p:spPr>
          <a:xfrm>
            <a:off x="777240" y="4434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17 EDA charts</a:t>
            </a:r>
            <a:endParaRPr lang="en-US" sz="1300" dirty="0"/>
          </a:p>
        </p:txBody>
      </p:sp>
      <p:sp>
        <p:nvSpPr>
          <p:cNvPr id="10" name="step-2"/>
          <p:cNvSpPr/>
          <p:nvPr/>
        </p:nvSpPr>
        <p:spPr>
          <a:xfrm>
            <a:off x="2807894" y="1463040"/>
            <a:ext cx="2057400" cy="35204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tep-2-circle"/>
          <p:cNvSpPr/>
          <p:nvPr/>
        </p:nvSpPr>
        <p:spPr>
          <a:xfrm>
            <a:off x="3036494" y="1691640"/>
            <a:ext cx="731520" cy="731520"/>
          </a:xfrm>
          <a:prstGeom prst="ellipse">
            <a:avLst/>
          </a:prstGeom>
          <a:solidFill>
            <a:srgbClr val="2E9E83"/>
          </a:solidFill>
          <a:ln w="12700">
            <a:solidFill>
              <a:srgbClr val="2E9E83"/>
            </a:solidFill>
            <a:prstDash val="solid"/>
          </a:ln>
        </p:spPr>
      </p:sp>
      <p:pic>
        <p:nvPicPr>
          <p:cNvPr id="12" name="step-2-icon" descr="Broom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7428" y="1852574"/>
            <a:ext cx="409651" cy="409651"/>
          </a:xfrm>
          <a:prstGeom prst="rect">
            <a:avLst/>
          </a:prstGeom>
        </p:spPr>
      </p:pic>
      <p:sp>
        <p:nvSpPr>
          <p:cNvPr id="13" name="step-2-num"/>
          <p:cNvSpPr txBox="1"/>
          <p:nvPr/>
        </p:nvSpPr>
        <p:spPr>
          <a:xfrm>
            <a:off x="4270934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step-2-head"/>
          <p:cNvSpPr txBox="1"/>
          <p:nvPr/>
        </p:nvSpPr>
        <p:spPr>
          <a:xfrm>
            <a:off x="3036494" y="2606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2000" dirty="0"/>
          </a:p>
        </p:txBody>
      </p:sp>
      <p:sp>
        <p:nvSpPr>
          <p:cNvPr id="15" name="step-2-desc"/>
          <p:cNvSpPr txBox="1"/>
          <p:nvPr/>
        </p:nvSpPr>
        <p:spPr>
          <a:xfrm>
            <a:off x="3036494" y="306324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Strip URLs, mentions, entities; tokenise; de-duplicate</a:t>
            </a:r>
            <a:endParaRPr lang="en-US" sz="1500" dirty="0"/>
          </a:p>
        </p:txBody>
      </p:sp>
      <p:sp>
        <p:nvSpPr>
          <p:cNvPr id="16" name="step-2-out"/>
          <p:cNvSpPr txBox="1"/>
          <p:nvPr/>
        </p:nvSpPr>
        <p:spPr>
          <a:xfrm>
            <a:off x="3036494" y="4434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7,485 clean rows</a:t>
            </a:r>
            <a:endParaRPr lang="en-US" sz="1300" dirty="0"/>
          </a:p>
        </p:txBody>
      </p:sp>
      <p:sp>
        <p:nvSpPr>
          <p:cNvPr id="17" name="step-3"/>
          <p:cNvSpPr/>
          <p:nvPr/>
        </p:nvSpPr>
        <p:spPr>
          <a:xfrm>
            <a:off x="5067148" y="1463040"/>
            <a:ext cx="2057400" cy="35204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tep-3-circle"/>
          <p:cNvSpPr/>
          <p:nvPr/>
        </p:nvSpPr>
        <p:spPr>
          <a:xfrm>
            <a:off x="5295748" y="1691640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9" name="step-3-icon" descr="LayerGroup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682" y="1852574"/>
            <a:ext cx="409651" cy="409651"/>
          </a:xfrm>
          <a:prstGeom prst="rect">
            <a:avLst/>
          </a:prstGeom>
        </p:spPr>
      </p:pic>
      <p:sp>
        <p:nvSpPr>
          <p:cNvPr id="20" name="step-3-num"/>
          <p:cNvSpPr txBox="1"/>
          <p:nvPr/>
        </p:nvSpPr>
        <p:spPr>
          <a:xfrm>
            <a:off x="6530188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step-3-head"/>
          <p:cNvSpPr txBox="1"/>
          <p:nvPr/>
        </p:nvSpPr>
        <p:spPr>
          <a:xfrm>
            <a:off x="5295748" y="2606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</a:t>
            </a:r>
            <a:endParaRPr lang="en-US" sz="2000" dirty="0"/>
          </a:p>
        </p:txBody>
      </p:sp>
      <p:sp>
        <p:nvSpPr>
          <p:cNvPr id="22" name="step-3-desc"/>
          <p:cNvSpPr txBox="1"/>
          <p:nvPr/>
        </p:nvSpPr>
        <p:spPr>
          <a:xfrm>
            <a:off x="5295748" y="306324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TF-IDF 1-2 grams, keyword token, 10 meta-features</a:t>
            </a:r>
            <a:endParaRPr lang="en-US" sz="1500" dirty="0"/>
          </a:p>
        </p:txBody>
      </p:sp>
      <p:sp>
        <p:nvSpPr>
          <p:cNvPr id="23" name="step-3-out"/>
          <p:cNvSpPr txBox="1"/>
          <p:nvPr/>
        </p:nvSpPr>
        <p:spPr>
          <a:xfrm>
            <a:off x="5295748" y="4434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Sparse feature matrix</a:t>
            </a:r>
            <a:endParaRPr lang="en-US" sz="1300" dirty="0"/>
          </a:p>
        </p:txBody>
      </p:sp>
      <p:sp>
        <p:nvSpPr>
          <p:cNvPr id="24" name="step-4"/>
          <p:cNvSpPr/>
          <p:nvPr/>
        </p:nvSpPr>
        <p:spPr>
          <a:xfrm>
            <a:off x="7326401" y="1463040"/>
            <a:ext cx="2057400" cy="35204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tep-4-circle"/>
          <p:cNvSpPr/>
          <p:nvPr/>
        </p:nvSpPr>
        <p:spPr>
          <a:xfrm>
            <a:off x="7555001" y="1691640"/>
            <a:ext cx="731520" cy="731520"/>
          </a:xfrm>
          <a:prstGeom prst="ellipse">
            <a:avLst/>
          </a:prstGeom>
          <a:solidFill>
            <a:srgbClr val="E34A33"/>
          </a:solidFill>
          <a:ln w="12700">
            <a:solidFill>
              <a:srgbClr val="E34A33"/>
            </a:solidFill>
            <a:prstDash val="solid"/>
          </a:ln>
        </p:spPr>
      </p:sp>
      <p:pic>
        <p:nvPicPr>
          <p:cNvPr id="26" name="step-4-icon" descr="Cog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936" y="1852574"/>
            <a:ext cx="409651" cy="409651"/>
          </a:xfrm>
          <a:prstGeom prst="rect">
            <a:avLst/>
          </a:prstGeom>
        </p:spPr>
      </p:pic>
      <p:sp>
        <p:nvSpPr>
          <p:cNvPr id="27" name="step-4-num"/>
          <p:cNvSpPr txBox="1"/>
          <p:nvPr/>
        </p:nvSpPr>
        <p:spPr>
          <a:xfrm>
            <a:off x="8789441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step-4-head"/>
          <p:cNvSpPr txBox="1"/>
          <p:nvPr/>
        </p:nvSpPr>
        <p:spPr>
          <a:xfrm>
            <a:off x="7555001" y="2606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2000" dirty="0"/>
          </a:p>
        </p:txBody>
      </p:sp>
      <p:sp>
        <p:nvSpPr>
          <p:cNvPr id="29" name="step-4-desc"/>
          <p:cNvSpPr txBox="1"/>
          <p:nvPr/>
        </p:nvSpPr>
        <p:spPr>
          <a:xfrm>
            <a:off x="7555001" y="306324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Five classifiers, 5-fold CV, grid search</a:t>
            </a:r>
            <a:endParaRPr lang="en-US" sz="1500" dirty="0"/>
          </a:p>
        </p:txBody>
      </p:sp>
      <p:sp>
        <p:nvSpPr>
          <p:cNvPr id="30" name="step-4-out"/>
          <p:cNvSpPr txBox="1"/>
          <p:nvPr/>
        </p:nvSpPr>
        <p:spPr>
          <a:xfrm>
            <a:off x="7555001" y="4434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Tuned Linear SVM</a:t>
            </a:r>
            <a:endParaRPr lang="en-US" sz="1300" dirty="0"/>
          </a:p>
        </p:txBody>
      </p:sp>
      <p:sp>
        <p:nvSpPr>
          <p:cNvPr id="31" name="step-5"/>
          <p:cNvSpPr/>
          <p:nvPr/>
        </p:nvSpPr>
        <p:spPr>
          <a:xfrm>
            <a:off x="9585655" y="1463040"/>
            <a:ext cx="2057400" cy="35204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step-5-circle"/>
          <p:cNvSpPr/>
          <p:nvPr/>
        </p:nvSpPr>
        <p:spPr>
          <a:xfrm>
            <a:off x="9814255" y="1691640"/>
            <a:ext cx="731520" cy="731520"/>
          </a:xfrm>
          <a:prstGeom prst="ellipse">
            <a:avLst/>
          </a:prstGeom>
          <a:solidFill>
            <a:srgbClr val="B0413E"/>
          </a:solidFill>
          <a:ln w="12700">
            <a:solidFill>
              <a:srgbClr val="B0413E"/>
            </a:solidFill>
            <a:prstDash val="solid"/>
          </a:ln>
        </p:spPr>
      </p:sp>
      <p:pic>
        <p:nvPicPr>
          <p:cNvPr id="33" name="step-5-icon" descr="Rocke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5190" y="1852574"/>
            <a:ext cx="409651" cy="409651"/>
          </a:xfrm>
          <a:prstGeom prst="rect">
            <a:avLst/>
          </a:prstGeom>
        </p:spPr>
      </p:pic>
      <p:sp>
        <p:nvSpPr>
          <p:cNvPr id="34" name="step-5-num"/>
          <p:cNvSpPr txBox="1"/>
          <p:nvPr/>
        </p:nvSpPr>
        <p:spPr>
          <a:xfrm>
            <a:off x="11048695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35" name="step-5-head"/>
          <p:cNvSpPr txBox="1"/>
          <p:nvPr/>
        </p:nvSpPr>
        <p:spPr>
          <a:xfrm>
            <a:off x="9814255" y="2606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2000" dirty="0"/>
          </a:p>
        </p:txBody>
      </p:sp>
      <p:sp>
        <p:nvSpPr>
          <p:cNvPr id="36" name="step-5-desc"/>
          <p:cNvSpPr txBox="1"/>
          <p:nvPr/>
        </p:nvSpPr>
        <p:spPr>
          <a:xfrm>
            <a:off x="9814255" y="306324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One pickled pipeline behind Flask and Streamlit</a:t>
            </a:r>
            <a:endParaRPr lang="en-US" sz="1500" dirty="0"/>
          </a:p>
        </p:txBody>
      </p:sp>
      <p:sp>
        <p:nvSpPr>
          <p:cNvPr id="37" name="step-5-out"/>
          <p:cNvSpPr txBox="1"/>
          <p:nvPr/>
        </p:nvSpPr>
        <p:spPr>
          <a:xfrm>
            <a:off x="9814255" y="4434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Live web app</a:t>
            </a:r>
            <a:endParaRPr lang="en-US" sz="1300" dirty="0"/>
          </a:p>
        </p:txBody>
      </p:sp>
      <p:sp>
        <p:nvSpPr>
          <p:cNvPr id="38" name="approach-banner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9" name="approach-banner-text"/>
          <p:cNvSpPr txBox="1"/>
          <p:nvPr/>
        </p:nvSpPr>
        <p:spPr>
          <a:xfrm>
            <a:off x="868680" y="530352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One scikit-learn Pipeline: raw tweet in, disaster probability out. Training and both apps share the same code.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data: 7,613 hand-labelled tweets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9494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22960"/>
                <a:gridCol w="3840480"/>
                <a:gridCol w="10972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it holds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Missing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2"/>
                          </a:solidFill>
                        </a:rPr>
                        <a:t>id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2"/>
                          </a:solidFill>
                        </a:rPr>
                        <a:t>int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2"/>
                          </a:solidFill>
                        </a:rPr>
                        <a:t>Tweet identifier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2"/>
                          </a:solidFill>
                        </a:rPr>
                        <a:t>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2"/>
                          </a:solidFill>
                        </a:rPr>
                        <a:t>keyword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2"/>
                          </a:solidFill>
                        </a:rPr>
                        <a:t>text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2"/>
                          </a:solidFill>
                        </a:rPr>
                        <a:t>Search keyword, 221 unique values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2"/>
                          </a:solidFill>
                        </a:rPr>
                        <a:t>0.8%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2"/>
                          </a:solidFill>
                        </a:rPr>
                        <a:t>location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2"/>
                          </a:solidFill>
                        </a:rPr>
                        <a:t>text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2"/>
                          </a:solidFill>
                        </a:rPr>
                        <a:t>Free text, 3,278 unique values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2"/>
                          </a:solidFill>
                        </a:rPr>
                        <a:t>33.3%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2"/>
                          </a:solidFill>
                        </a:rPr>
                        <a:t>text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2"/>
                          </a:solidFill>
                        </a:rPr>
                        <a:t>text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2"/>
                          </a:solidFill>
                        </a:rPr>
                        <a:t>The raw tweet, often with a link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2"/>
                          </a:solidFill>
                        </a:rPr>
                        <a:t>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2"/>
                          </a:solidFill>
                        </a:rPr>
                        <a:t>target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2"/>
                          </a:solidFill>
                        </a:rPr>
                        <a:t>0 / 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2"/>
                          </a:solidFill>
                        </a:rPr>
                        <a:t>1 = real disaster, 0 = not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2"/>
                          </a:solidFill>
                        </a:rPr>
                        <a:t>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data-note"/>
          <p:cNvSpPr/>
          <p:nvPr/>
        </p:nvSpPr>
        <p:spPr>
          <a:xfrm>
            <a:off x="548640" y="4526280"/>
            <a:ext cx="694944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data-note-circle"/>
          <p:cNvSpPr/>
          <p:nvPr/>
        </p:nvSpPr>
        <p:spPr>
          <a:xfrm>
            <a:off x="777240" y="4800600"/>
            <a:ext cx="640080" cy="640080"/>
          </a:xfrm>
          <a:prstGeom prst="ellipse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pic>
        <p:nvPicPr>
          <p:cNvPr id="6" name="data-note-icon" descr="Databas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4941418"/>
            <a:ext cx="358445" cy="358445"/>
          </a:xfrm>
          <a:prstGeom prst="rect">
            <a:avLst/>
          </a:prstGeom>
        </p:spPr>
      </p:pic>
      <p:sp>
        <p:nvSpPr>
          <p:cNvPr id="7" name="data-note-text"/>
          <p:cNvSpPr txBox="1"/>
          <p:nvPr/>
        </p:nvSpPr>
        <p:spPr>
          <a:xfrm>
            <a:off x="1691640" y="461772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Modelling uses text and keyword; location is too noisy to help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brief mentions about 10,000 tweets; the file supplied has 7,613</a:t>
            </a:r>
            <a:endParaRPr lang="en-US" sz="1600" dirty="0"/>
          </a:p>
        </p:txBody>
      </p:sp>
      <p:sp>
        <p:nvSpPr>
          <p:cNvPr id="8" name="data-stat-1"/>
          <p:cNvSpPr/>
          <p:nvPr/>
        </p:nvSpPr>
        <p:spPr>
          <a:xfrm>
            <a:off x="8001000" y="1417320"/>
            <a:ext cx="363931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data-stat-1-num"/>
          <p:cNvSpPr txBox="1"/>
          <p:nvPr/>
        </p:nvSpPr>
        <p:spPr>
          <a:xfrm>
            <a:off x="8183880" y="1527048"/>
            <a:ext cx="3273552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34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7,613</a:t>
            </a:r>
            <a:endParaRPr lang="en-US" sz="3800" dirty="0"/>
          </a:p>
        </p:txBody>
      </p:sp>
      <p:sp>
        <p:nvSpPr>
          <p:cNvPr id="10" name="data-stat-1-label"/>
          <p:cNvSpPr txBox="1"/>
          <p:nvPr/>
        </p:nvSpPr>
        <p:spPr>
          <a:xfrm>
            <a:off x="8183880" y="2239366"/>
            <a:ext cx="3273552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tweets, five columns</a:t>
            </a:r>
            <a:endParaRPr lang="en-US" sz="1400" dirty="0"/>
          </a:p>
        </p:txBody>
      </p:sp>
      <p:sp>
        <p:nvSpPr>
          <p:cNvPr id="11" name="data-stat-2"/>
          <p:cNvSpPr/>
          <p:nvPr/>
        </p:nvSpPr>
        <p:spPr>
          <a:xfrm>
            <a:off x="8001000" y="3017520"/>
            <a:ext cx="363931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data-stat-2-num"/>
          <p:cNvSpPr txBox="1"/>
          <p:nvPr/>
        </p:nvSpPr>
        <p:spPr>
          <a:xfrm>
            <a:off x="8183880" y="3127248"/>
            <a:ext cx="3273552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C7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221</a:t>
            </a:r>
            <a:endParaRPr lang="en-US" sz="3800" dirty="0"/>
          </a:p>
        </p:txBody>
      </p:sp>
      <p:sp>
        <p:nvSpPr>
          <p:cNvPr id="13" name="data-stat-2-label"/>
          <p:cNvSpPr txBox="1"/>
          <p:nvPr/>
        </p:nvSpPr>
        <p:spPr>
          <a:xfrm>
            <a:off x="8183880" y="3839566"/>
            <a:ext cx="3273552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distinct keywords (e.g. wildfire, flood)</a:t>
            </a:r>
            <a:endParaRPr lang="en-US" sz="1400" dirty="0"/>
          </a:p>
        </p:txBody>
      </p:sp>
      <p:sp>
        <p:nvSpPr>
          <p:cNvPr id="14" name="data-stat-3"/>
          <p:cNvSpPr/>
          <p:nvPr/>
        </p:nvSpPr>
        <p:spPr>
          <a:xfrm>
            <a:off x="8001000" y="4617720"/>
            <a:ext cx="3639312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data-stat-3-num"/>
          <p:cNvSpPr txBox="1"/>
          <p:nvPr/>
        </p:nvSpPr>
        <p:spPr>
          <a:xfrm>
            <a:off x="8183880" y="4727448"/>
            <a:ext cx="3273552" cy="808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4,342 : 3,271</a:t>
            </a:r>
            <a:endParaRPr lang="en-US" sz="3000" dirty="0"/>
          </a:p>
        </p:txBody>
      </p:sp>
      <p:sp>
        <p:nvSpPr>
          <p:cNvPr id="16" name="data-stat-3-label"/>
          <p:cNvSpPr txBox="1"/>
          <p:nvPr/>
        </p:nvSpPr>
        <p:spPr>
          <a:xfrm>
            <a:off x="8183880" y="5519318"/>
            <a:ext cx="3273552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non-disaster vs disaster tweets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Classes are mildly imbalanced (43% disaster)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3035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get-stat"/>
          <p:cNvSpPr/>
          <p:nvPr/>
        </p:nvSpPr>
        <p:spPr>
          <a:xfrm>
            <a:off x="6492240" y="1417320"/>
            <a:ext cx="514807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arget-stat-num"/>
          <p:cNvSpPr txBox="1"/>
          <p:nvPr/>
        </p:nvSpPr>
        <p:spPr>
          <a:xfrm>
            <a:off x="6675120" y="1527048"/>
            <a:ext cx="4782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34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1.33 : 1</a:t>
            </a:r>
            <a:endParaRPr lang="en-US" sz="3800" dirty="0"/>
          </a:p>
        </p:txBody>
      </p:sp>
      <p:sp>
        <p:nvSpPr>
          <p:cNvPr id="6" name="target-stat-label"/>
          <p:cNvSpPr txBox="1"/>
          <p:nvPr/>
        </p:nvSpPr>
        <p:spPr>
          <a:xfrm>
            <a:off x="6675120" y="2212848"/>
            <a:ext cx="47823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imbalance ratio: mild, no resampling needed</a:t>
            </a:r>
            <a:endParaRPr lang="en-US" sz="1400" dirty="0"/>
          </a:p>
        </p:txBody>
      </p:sp>
      <p:sp>
        <p:nvSpPr>
          <p:cNvPr id="7" name="target-bullets"/>
          <p:cNvSpPr txBox="1"/>
          <p:nvPr/>
        </p:nvSpPr>
        <p:spPr>
          <a:xfrm>
            <a:off x="6492240" y="3108960"/>
            <a:ext cx="51480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Class weights are enough to balance the loss</a:t>
            </a:r>
            <a:endParaRPr lang="en-US" sz="19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Accuracy alone can mislead, so we report precision, recall and F1</a:t>
            </a:r>
            <a:endParaRPr lang="en-US" sz="19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A stratified 80/20 split keeps the 43% share in both train and test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Keyword is the strongest single signal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76656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kw-stat"/>
          <p:cNvSpPr/>
          <p:nvPr/>
        </p:nvSpPr>
        <p:spPr>
          <a:xfrm>
            <a:off x="7680960" y="1417320"/>
            <a:ext cx="395935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kw-stat-num"/>
          <p:cNvSpPr txBox="1"/>
          <p:nvPr/>
        </p:nvSpPr>
        <p:spPr>
          <a:xfrm>
            <a:off x="7863840" y="1527048"/>
            <a:ext cx="359359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C7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221</a:t>
            </a:r>
            <a:endParaRPr lang="en-US" sz="3800" dirty="0"/>
          </a:p>
        </p:txBody>
      </p:sp>
      <p:sp>
        <p:nvSpPr>
          <p:cNvPr id="6" name="kw-stat-label"/>
          <p:cNvSpPr txBox="1"/>
          <p:nvPr/>
        </p:nvSpPr>
        <p:spPr>
          <a:xfrm>
            <a:off x="7863840" y="2159813"/>
            <a:ext cx="3593592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keywords, only 0.8% of tweets lack one</a:t>
            </a:r>
            <a:endParaRPr lang="en-US" sz="1400" dirty="0"/>
          </a:p>
        </p:txBody>
      </p:sp>
      <p:sp>
        <p:nvSpPr>
          <p:cNvPr id="7" name="kw-bullets"/>
          <p:cNvSpPr txBox="1"/>
          <p:nvPr/>
        </p:nvSpPr>
        <p:spPr>
          <a:xfrm>
            <a:off x="7680960" y="2971800"/>
            <a:ext cx="395935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23 of 216 frequent keywords are 80%+ disaster; 59 are 20% or less</a:t>
            </a:r>
            <a:endParaRPr lang="en-US" sz="17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Association with the label is highly significant (chi-square p near 0)</a:t>
            </a:r>
            <a:endParaRPr lang="en-US" sz="17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Necessary, not sufficient: “blazing”, “ruin” and “body bag” are almost always figurative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Disaster tweets read like news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94944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len-stat"/>
          <p:cNvSpPr/>
          <p:nvPr/>
        </p:nvSpPr>
        <p:spPr>
          <a:xfrm>
            <a:off x="7772400" y="1417320"/>
            <a:ext cx="386791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len-stat-num"/>
          <p:cNvSpPr txBox="1"/>
          <p:nvPr/>
        </p:nvSpPr>
        <p:spPr>
          <a:xfrm>
            <a:off x="7955280" y="1527048"/>
            <a:ext cx="35021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34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 vs 96</a:t>
            </a:r>
            <a:endParaRPr lang="en-US" sz="3400" dirty="0"/>
          </a:p>
        </p:txBody>
      </p:sp>
      <p:sp>
        <p:nvSpPr>
          <p:cNvPr id="6" name="len-stat-label"/>
          <p:cNvSpPr txBox="1"/>
          <p:nvPr/>
        </p:nvSpPr>
        <p:spPr>
          <a:xfrm>
            <a:off x="7955280" y="2159813"/>
            <a:ext cx="3502152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mean characters: disaster vs non-disaster</a:t>
            </a:r>
            <a:endParaRPr lang="en-US" sz="1400" dirty="0"/>
          </a:p>
        </p:txBody>
      </p:sp>
      <p:sp>
        <p:nvSpPr>
          <p:cNvPr id="7" name="text-bullets"/>
          <p:cNvSpPr txBox="1"/>
          <p:nvPr/>
        </p:nvSpPr>
        <p:spPr>
          <a:xfrm>
            <a:off x="7772400" y="2971800"/>
            <a:ext cx="386791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Links and numbers point to reports (correlation with label: URL 0.25, digit 0.23)</a:t>
            </a:r>
            <a:endParaRPr lang="en-US" sz="17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Questions, exclamations and @mentions point to chat (mention correlation -0.10)</a:t>
            </a:r>
            <a:endParaRPr lang="en-US" sz="17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Disaster words are longer: 6.5 vs 5.9 characters on average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Vocabulary is sparse but telling</a:t>
            </a:r>
            <a:endParaRPr lang="en-US" sz="3400" dirty="0"/>
          </a:p>
        </p:txBody>
      </p:sp>
      <p:pic>
        <p:nvPicPr>
          <p:cNvPr id="3" name="ngram-chart" descr="Top unigrams and bigrams for disaster and non-disaster twee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766560" cy="4648967"/>
          </a:xfrm>
          <a:prstGeom prst="rect">
            <a:avLst/>
          </a:prstGeom>
        </p:spPr>
      </p:pic>
      <p:sp>
        <p:nvSpPr>
          <p:cNvPr id="4" name="vocab-stat-1"/>
          <p:cNvSpPr/>
          <p:nvPr/>
        </p:nvSpPr>
        <p:spPr>
          <a:xfrm>
            <a:off x="7498080" y="1417320"/>
            <a:ext cx="2011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vocab-stat-1-num"/>
          <p:cNvSpPr txBox="1"/>
          <p:nvPr/>
        </p:nvSpPr>
        <p:spPr>
          <a:xfrm>
            <a:off x="7680960" y="1527048"/>
            <a:ext cx="164592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4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13,734</a:t>
            </a:r>
            <a:endParaRPr lang="en-US" sz="3000" dirty="0"/>
          </a:p>
        </p:txBody>
      </p:sp>
      <p:sp>
        <p:nvSpPr>
          <p:cNvPr id="6" name="vocab-stat-1-label"/>
          <p:cNvSpPr txBox="1"/>
          <p:nvPr/>
        </p:nvSpPr>
        <p:spPr>
          <a:xfrm>
            <a:off x="7680960" y="2186330"/>
            <a:ext cx="164592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unique tokens after cleaning</a:t>
            </a:r>
            <a:endParaRPr lang="en-US" sz="1400" dirty="0"/>
          </a:p>
        </p:txBody>
      </p:sp>
      <p:sp>
        <p:nvSpPr>
          <p:cNvPr id="7" name="vocab-stat-2"/>
          <p:cNvSpPr/>
          <p:nvPr/>
        </p:nvSpPr>
        <p:spPr>
          <a:xfrm>
            <a:off x="9628632" y="1417320"/>
            <a:ext cx="2011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vocab-stat-2-num"/>
          <p:cNvSpPr txBox="1"/>
          <p:nvPr/>
        </p:nvSpPr>
        <p:spPr>
          <a:xfrm>
            <a:off x="9811512" y="1527048"/>
            <a:ext cx="1645920" cy="6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7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56%</a:t>
            </a:r>
            <a:endParaRPr lang="en-US" sz="3000" dirty="0"/>
          </a:p>
        </p:txBody>
      </p:sp>
      <p:sp>
        <p:nvSpPr>
          <p:cNvPr id="9" name="vocab-stat-2-label"/>
          <p:cNvSpPr txBox="1"/>
          <p:nvPr/>
        </p:nvSpPr>
        <p:spPr>
          <a:xfrm>
            <a:off x="9811512" y="2186330"/>
            <a:ext cx="164592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of tokens appear only once</a:t>
            </a:r>
            <a:endParaRPr lang="en-US" sz="1400" dirty="0"/>
          </a:p>
        </p:txBody>
      </p:sp>
      <p:sp>
        <p:nvSpPr>
          <p:cNvPr id="10" name="vocab-bullets"/>
          <p:cNvSpPr txBox="1"/>
          <p:nvPr/>
        </p:nvSpPr>
        <p:spPr>
          <a:xfrm>
            <a:off x="7498080" y="3017520"/>
            <a:ext cx="414223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Bigrams disambiguate: “suicide bomber” and “oil spill” signal disaster, “body bag” and “cross body” do not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Some phrases such as “burning buildings” appear in both classes</a:t>
            </a:r>
            <a:endParaRPr lang="en-US" sz="16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Sparsity calls for min_df, sublinear TF-IDF and regularisation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Data quality issues we found and fixed</a:t>
            </a:r>
            <a:endParaRPr lang="en-US" sz="3400" dirty="0"/>
          </a:p>
        </p:txBody>
      </p:sp>
      <p:sp>
        <p:nvSpPr>
          <p:cNvPr id="3" name="dq-1"/>
          <p:cNvSpPr/>
          <p:nvPr/>
        </p:nvSpPr>
        <p:spPr>
          <a:xfrm>
            <a:off x="548640" y="1417320"/>
            <a:ext cx="27432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q-1-circle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5" name="dq-1-icon" descr="Cop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766621"/>
            <a:ext cx="307238" cy="307238"/>
          </a:xfrm>
          <a:prstGeom prst="rect">
            <a:avLst/>
          </a:prstGeom>
        </p:spPr>
      </p:pic>
      <p:sp>
        <p:nvSpPr>
          <p:cNvPr id="6" name="dq-1-num"/>
          <p:cNvSpPr txBox="1"/>
          <p:nvPr/>
        </p:nvSpPr>
        <p:spPr>
          <a:xfrm>
            <a:off x="777240" y="2286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179</a:t>
            </a:r>
            <a:endParaRPr lang="en-US" sz="3400" dirty="0"/>
          </a:p>
        </p:txBody>
      </p:sp>
      <p:sp>
        <p:nvSpPr>
          <p:cNvPr id="7" name="dq-1-label"/>
          <p:cNvSpPr txBox="1"/>
          <p:nvPr/>
        </p:nvSpPr>
        <p:spPr>
          <a:xfrm>
            <a:off x="777240" y="2880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rows share duplicate text</a:t>
            </a:r>
            <a:endParaRPr lang="en-US" sz="1400" dirty="0"/>
          </a:p>
        </p:txBody>
      </p:sp>
      <p:sp>
        <p:nvSpPr>
          <p:cNvPr id="8" name="dq-2"/>
          <p:cNvSpPr/>
          <p:nvPr/>
        </p:nvSpPr>
        <p:spPr>
          <a:xfrm>
            <a:off x="3474720" y="1417320"/>
            <a:ext cx="27432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dq-2-circle"/>
          <p:cNvSpPr/>
          <p:nvPr/>
        </p:nvSpPr>
        <p:spPr>
          <a:xfrm>
            <a:off x="3703320" y="1645920"/>
            <a:ext cx="548640" cy="548640"/>
          </a:xfrm>
          <a:prstGeom prst="ellipse">
            <a:avLst/>
          </a:prstGeom>
          <a:solidFill>
            <a:srgbClr val="E34A33"/>
          </a:solidFill>
          <a:ln w="12700">
            <a:solidFill>
              <a:srgbClr val="E34A33"/>
            </a:solidFill>
            <a:prstDash val="solid"/>
          </a:ln>
        </p:spPr>
      </p:sp>
      <p:pic>
        <p:nvPicPr>
          <p:cNvPr id="10" name="dq-2-icon" descr="ExclamationCircl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021" y="1766621"/>
            <a:ext cx="307238" cy="307238"/>
          </a:xfrm>
          <a:prstGeom prst="rect">
            <a:avLst/>
          </a:prstGeom>
        </p:spPr>
      </p:pic>
      <p:sp>
        <p:nvSpPr>
          <p:cNvPr id="11" name="dq-2-num"/>
          <p:cNvSpPr txBox="1"/>
          <p:nvPr/>
        </p:nvSpPr>
        <p:spPr>
          <a:xfrm>
            <a:off x="3703320" y="2286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400" dirty="0"/>
          </a:p>
        </p:txBody>
      </p:sp>
      <p:sp>
        <p:nvSpPr>
          <p:cNvPr id="12" name="dq-2-label"/>
          <p:cNvSpPr txBox="1"/>
          <p:nvPr/>
        </p:nvSpPr>
        <p:spPr>
          <a:xfrm>
            <a:off x="3703320" y="2880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texts carry conflicting labels</a:t>
            </a:r>
            <a:endParaRPr lang="en-US" sz="1400" dirty="0"/>
          </a:p>
        </p:txBody>
      </p:sp>
      <p:sp>
        <p:nvSpPr>
          <p:cNvPr id="13" name="dq-3"/>
          <p:cNvSpPr/>
          <p:nvPr/>
        </p:nvSpPr>
        <p:spPr>
          <a:xfrm>
            <a:off x="548640" y="3794760"/>
            <a:ext cx="27432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dq-3-circle"/>
          <p:cNvSpPr/>
          <p:nvPr/>
        </p:nvSpPr>
        <p:spPr>
          <a:xfrm>
            <a:off x="777240" y="4023360"/>
            <a:ext cx="548640" cy="548640"/>
          </a:xfrm>
          <a:prstGeom prst="ellipse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pic>
        <p:nvPicPr>
          <p:cNvPr id="15" name="dq-3-icon" descr="Cod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144061"/>
            <a:ext cx="307238" cy="307238"/>
          </a:xfrm>
          <a:prstGeom prst="rect">
            <a:avLst/>
          </a:prstGeom>
        </p:spPr>
      </p:pic>
      <p:sp>
        <p:nvSpPr>
          <p:cNvPr id="16" name="dq-3-num"/>
          <p:cNvSpPr txBox="1"/>
          <p:nvPr/>
        </p:nvSpPr>
        <p:spPr>
          <a:xfrm>
            <a:off x="777240" y="4663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~13%</a:t>
            </a:r>
            <a:endParaRPr lang="en-US" sz="3400" dirty="0"/>
          </a:p>
        </p:txBody>
      </p:sp>
      <p:sp>
        <p:nvSpPr>
          <p:cNvPr id="17" name="dq-3-label"/>
          <p:cNvSpPr txBox="1"/>
          <p:nvPr/>
        </p:nvSpPr>
        <p:spPr>
          <a:xfrm>
            <a:off x="777240" y="5257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tweets contain encoding junk or HTML entities</a:t>
            </a:r>
            <a:endParaRPr lang="en-US" sz="1400" dirty="0"/>
          </a:p>
        </p:txBody>
      </p:sp>
      <p:sp>
        <p:nvSpPr>
          <p:cNvPr id="18" name="dq-4"/>
          <p:cNvSpPr/>
          <p:nvPr/>
        </p:nvSpPr>
        <p:spPr>
          <a:xfrm>
            <a:off x="3474720" y="3794760"/>
            <a:ext cx="27432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dq-4-circle"/>
          <p:cNvSpPr/>
          <p:nvPr/>
        </p:nvSpPr>
        <p:spPr>
          <a:xfrm>
            <a:off x="3703320" y="4023360"/>
            <a:ext cx="548640" cy="548640"/>
          </a:xfrm>
          <a:prstGeom prst="ellipse">
            <a:avLst/>
          </a:prstGeom>
          <a:solidFill>
            <a:srgbClr val="2E9E83"/>
          </a:solidFill>
          <a:ln w="12700">
            <a:solidFill>
              <a:srgbClr val="2E9E83"/>
            </a:solidFill>
            <a:prstDash val="solid"/>
          </a:ln>
        </p:spPr>
      </p:sp>
      <p:pic>
        <p:nvPicPr>
          <p:cNvPr id="20" name="dq-4-icon" descr="Glob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4021" y="4144061"/>
            <a:ext cx="307238" cy="307238"/>
          </a:xfrm>
          <a:prstGeom prst="rect">
            <a:avLst/>
          </a:prstGeom>
        </p:spPr>
      </p:pic>
      <p:sp>
        <p:nvSpPr>
          <p:cNvPr id="21" name="dq-4-num"/>
          <p:cNvSpPr txBox="1"/>
          <p:nvPr/>
        </p:nvSpPr>
        <p:spPr>
          <a:xfrm>
            <a:off x="3703320" y="4663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33%</a:t>
            </a:r>
            <a:endParaRPr lang="en-US" sz="3400" dirty="0"/>
          </a:p>
        </p:txBody>
      </p:sp>
      <p:sp>
        <p:nvSpPr>
          <p:cNvPr id="22" name="dq-4-label"/>
          <p:cNvSpPr txBox="1"/>
          <p:nvPr/>
        </p:nvSpPr>
        <p:spPr>
          <a:xfrm>
            <a:off x="3703320" y="5257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locations missing; 29 cells auto-converted by Excel</a:t>
            </a:r>
            <a:endParaRPr lang="en-US" sz="1400" dirty="0"/>
          </a:p>
        </p:txBody>
      </p:sp>
      <p:sp>
        <p:nvSpPr>
          <p:cNvPr id="23" name="dq-head"/>
          <p:cNvSpPr txBox="1"/>
          <p:nvPr/>
        </p:nvSpPr>
        <p:spPr>
          <a:xfrm>
            <a:off x="6675120" y="1417320"/>
            <a:ext cx="4965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handled it</a:t>
            </a:r>
            <a:endParaRPr lang="en-US" sz="2200" dirty="0"/>
          </a:p>
        </p:txBody>
      </p:sp>
      <p:sp>
        <p:nvSpPr>
          <p:cNvPr id="24" name="dq-steps"/>
          <p:cNvSpPr txBox="1"/>
          <p:nvPr/>
        </p:nvSpPr>
        <p:spPr>
          <a:xfrm>
            <a:off x="6675120" y="1920240"/>
            <a:ext cx="496519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Dropped the 18 conflicting texts and kept one copy of each duplicate: 7,613 rows became 7,485, so identical tweets never straddle train and test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Removed HTML entities and garbled characters in cleaning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Excluded location from the model</a:t>
            </a:r>
            <a:endParaRPr lang="en-US" sz="17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Accepted the remaining label noise and measured its impact in the error analysis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Cleaning and feature engineering</a:t>
            </a:r>
            <a:endParaRPr lang="en-US" sz="3400" dirty="0"/>
          </a:p>
        </p:txBody>
      </p:sp>
      <p:sp>
        <p:nvSpPr>
          <p:cNvPr id="3" name="prep-card"/>
          <p:cNvSpPr/>
          <p:nvPr/>
        </p:nvSpPr>
        <p:spPr>
          <a:xfrm>
            <a:off x="548640" y="1371600"/>
            <a:ext cx="5364328" cy="38404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rep-circle"/>
          <p:cNvSpPr/>
          <p:nvPr/>
        </p:nvSpPr>
        <p:spPr>
          <a:xfrm>
            <a:off x="822960" y="1600200"/>
            <a:ext cx="594360" cy="594360"/>
          </a:xfrm>
          <a:prstGeom prst="ellipse">
            <a:avLst/>
          </a:prstGeom>
          <a:solidFill>
            <a:srgbClr val="2E9E83"/>
          </a:solidFill>
          <a:ln w="12700">
            <a:solidFill>
              <a:srgbClr val="2E9E83"/>
            </a:solidFill>
            <a:prstDash val="solid"/>
          </a:ln>
        </p:spPr>
      </p:sp>
      <p:pic>
        <p:nvPicPr>
          <p:cNvPr id="5" name="prep-icon" descr="Broom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1730959"/>
            <a:ext cx="332842" cy="332842"/>
          </a:xfrm>
          <a:prstGeom prst="rect">
            <a:avLst/>
          </a:prstGeom>
        </p:spPr>
      </p:pic>
      <p:sp>
        <p:nvSpPr>
          <p:cNvPr id="6" name="prep-head"/>
          <p:cNvSpPr txBox="1"/>
          <p:nvPr/>
        </p:nvSpPr>
        <p:spPr>
          <a:xfrm>
            <a:off x="1600200" y="1600200"/>
            <a:ext cx="4084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preparation</a:t>
            </a:r>
            <a:endParaRPr lang="en-US" sz="2200" dirty="0"/>
          </a:p>
        </p:txBody>
      </p:sp>
      <p:sp>
        <p:nvSpPr>
          <p:cNvPr id="7" name="prep-body"/>
          <p:cNvSpPr txBox="1"/>
          <p:nvPr/>
        </p:nvSpPr>
        <p:spPr>
          <a:xfrm>
            <a:off x="822960" y="2423160"/>
            <a:ext cx="481568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Lowercase; strip URLs, @mentions, HTML entities, digits and punctuation</a:t>
            </a:r>
            <a:endParaRPr lang="en-US" sz="17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Keep hashtag words (#flood becomes flood)</a:t>
            </a:r>
            <a:endParaRPr lang="en-US" sz="17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Tokenise and drop stop-words, but keep “not”, “no” and “never”</a:t>
            </a:r>
            <a:endParaRPr lang="en-US" sz="17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Stratified 80/20 split: 5,988 train, 1,497 test</a:t>
            </a:r>
            <a:endParaRPr lang="en-US" sz="1700" dirty="0"/>
          </a:p>
        </p:txBody>
      </p:sp>
      <p:sp>
        <p:nvSpPr>
          <p:cNvPr id="8" name="feat-card"/>
          <p:cNvSpPr/>
          <p:nvPr/>
        </p:nvSpPr>
        <p:spPr>
          <a:xfrm>
            <a:off x="6278728" y="1371600"/>
            <a:ext cx="5364328" cy="38404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feat-circle"/>
          <p:cNvSpPr/>
          <p:nvPr/>
        </p:nvSpPr>
        <p:spPr>
          <a:xfrm>
            <a:off x="6553048" y="1600200"/>
            <a:ext cx="594360" cy="5943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0" name="feat-icon" descr="LayerGroup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807" y="1730959"/>
            <a:ext cx="332842" cy="332842"/>
          </a:xfrm>
          <a:prstGeom prst="rect">
            <a:avLst/>
          </a:prstGeom>
        </p:spPr>
      </p:pic>
      <p:sp>
        <p:nvSpPr>
          <p:cNvPr id="11" name="feat-head"/>
          <p:cNvSpPr txBox="1"/>
          <p:nvPr/>
        </p:nvSpPr>
        <p:spPr>
          <a:xfrm>
            <a:off x="7330288" y="1600200"/>
            <a:ext cx="4084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2200" dirty="0"/>
          </a:p>
        </p:txBody>
      </p:sp>
      <p:sp>
        <p:nvSpPr>
          <p:cNvPr id="12" name="feat-body"/>
          <p:cNvSpPr txBox="1"/>
          <p:nvPr/>
        </p:nvSpPr>
        <p:spPr>
          <a:xfrm>
            <a:off x="6553048" y="2423160"/>
            <a:ext cx="481568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TF-IDF on 1-2 grams with sublinear term frequency</a:t>
            </a:r>
            <a:endParaRPr lang="en-US" sz="17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The tweet’s keyword appended as an extra token</a:t>
            </a:r>
            <a:endParaRPr lang="en-US" sz="17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Ten meta-features: length, words, hashtags, mentions, URL flag, caps ratio, ! and ? counts, keyword flag</a:t>
            </a:r>
            <a:endParaRPr lang="en-US" sz="17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Class weights to balance the loss</a:t>
            </a:r>
            <a:endParaRPr lang="en-US" sz="1700" dirty="0"/>
          </a:p>
        </p:txBody>
      </p:sp>
      <p:sp>
        <p:nvSpPr>
          <p:cNvPr id="13" name="feat-banner"/>
          <p:cNvSpPr/>
          <p:nvPr/>
        </p:nvSpPr>
        <p:spPr>
          <a:xfrm>
            <a:off x="548640" y="5440680"/>
            <a:ext cx="11094415" cy="777240"/>
          </a:xfrm>
          <a:prstGeom prst="roundRect">
            <a:avLst>
              <a:gd name="adj" fmla="val 141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feat-banner-text"/>
          <p:cNvSpPr txBox="1"/>
          <p:nvPr/>
        </p:nvSpPr>
        <p:spPr>
          <a:xfrm>
            <a:off x="822960" y="544068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TF-IDF (sparse text)  +  scaled meta-features  =  FeatureUnion  →  classifier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Cross-validation: top models are tied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76656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v-stat"/>
          <p:cNvSpPr/>
          <p:nvPr/>
        </p:nvSpPr>
        <p:spPr>
          <a:xfrm>
            <a:off x="7680960" y="1417320"/>
            <a:ext cx="3959352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v-stat-num"/>
          <p:cNvSpPr txBox="1"/>
          <p:nvPr/>
        </p:nvSpPr>
        <p:spPr>
          <a:xfrm>
            <a:off x="7863840" y="1527048"/>
            <a:ext cx="359359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C72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 0.013</a:t>
            </a:r>
            <a:endParaRPr lang="en-US" sz="3200" dirty="0"/>
          </a:p>
        </p:txBody>
      </p:sp>
      <p:sp>
        <p:nvSpPr>
          <p:cNvPr id="6" name="cv-stat-label"/>
          <p:cNvSpPr txBox="1"/>
          <p:nvPr/>
        </p:nvSpPr>
        <p:spPr>
          <a:xfrm>
            <a:off x="7863840" y="2159813"/>
            <a:ext cx="3593592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typical fold-to-fold std of F1, wider than the 0.011 gap among the top four</a:t>
            </a:r>
            <a:endParaRPr lang="en-US" sz="1400" dirty="0"/>
          </a:p>
        </p:txBody>
      </p:sp>
      <p:sp>
        <p:nvSpPr>
          <p:cNvPr id="7" name="cv-bullets"/>
          <p:cNvSpPr txBox="1"/>
          <p:nvPr/>
        </p:nvSpPr>
        <p:spPr>
          <a:xfrm>
            <a:off x="7680960" y="2971800"/>
            <a:ext cx="395935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Logistic Regression, Linear SVM, MLP and Naive Bayes are statistically close</a:t>
            </a:r>
            <a:endParaRPr lang="en-US" sz="17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Random Forest is clearly weakest: sparse text suits linear models</a:t>
            </a:r>
            <a:endParaRPr lang="en-US" sz="17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Grid search tuned C, n-gram range and min_df; the SVM won with C = 1, 1-2 grams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Test results: precision vs recall trade-off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722376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st-bullets"/>
          <p:cNvSpPr txBox="1"/>
          <p:nvPr/>
        </p:nvSpPr>
        <p:spPr>
          <a:xfrm>
            <a:off x="8138160" y="1463040"/>
            <a:ext cx="35021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Linear SVM and Logistic Regression tie on F1 (0.736) with the best recall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Naive Bayes and MLP reach 0.84 precision but miss about 38% of disasters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For alerts, missing a real disaster is costlier than a false alarm, so we chose the SVM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ROC-AUC is about 0.84 for all but Random Forest (0.82)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Final model: Linear SVM (tuned)</a:t>
            </a:r>
            <a:endParaRPr lang="en-US" sz="3400" dirty="0"/>
          </a:p>
        </p:txBody>
      </p:sp>
      <p:pic>
        <p:nvPicPr>
          <p:cNvPr id="3" name="cm-chart" descr="Confusion matrix of the final mod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703320" cy="3291840"/>
          </a:xfrm>
          <a:prstGeom prst="rect">
            <a:avLst/>
          </a:prstGeom>
        </p:spPr>
      </p:pic>
      <p:pic>
        <p:nvPicPr>
          <p:cNvPr id="4" name="roc-chart" descr="ROC curves of all mode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3950208" cy="3291840"/>
          </a:xfrm>
          <a:prstGeom prst="rect">
            <a:avLst/>
          </a:prstGeom>
        </p:spPr>
      </p:pic>
      <p:sp>
        <p:nvSpPr>
          <p:cNvPr id="5" name="final-bullets"/>
          <p:cNvSpPr txBox="1"/>
          <p:nvPr/>
        </p:nvSpPr>
        <p:spPr>
          <a:xfrm>
            <a:off x="8823960" y="1417320"/>
            <a:ext cx="281635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Probabilities come from calibrated SVM scores, so the app can show confidence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ROC curves of all models nearly overlap: the ceiling is the data, not the algorithm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Train F1 is about 0.98 vs 0.74 on test: the model overfits</a:t>
            </a:r>
            <a:endParaRPr lang="en-US" sz="1500" dirty="0"/>
          </a:p>
        </p:txBody>
      </p:sp>
      <p:sp>
        <p:nvSpPr>
          <p:cNvPr id="6" name="final-stat-1"/>
          <p:cNvSpPr/>
          <p:nvPr/>
        </p:nvSpPr>
        <p:spPr>
          <a:xfrm>
            <a:off x="548640" y="4937760"/>
            <a:ext cx="205740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final-stat-1-num"/>
          <p:cNvSpPr txBox="1"/>
          <p:nvPr/>
        </p:nvSpPr>
        <p:spPr>
          <a:xfrm>
            <a:off x="731520" y="5047488"/>
            <a:ext cx="169164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0.783</a:t>
            </a:r>
            <a:endParaRPr lang="en-US" sz="3200" dirty="0"/>
          </a:p>
        </p:txBody>
      </p:sp>
      <p:sp>
        <p:nvSpPr>
          <p:cNvPr id="8" name="final-stat-1-label"/>
          <p:cNvSpPr txBox="1"/>
          <p:nvPr/>
        </p:nvSpPr>
        <p:spPr>
          <a:xfrm>
            <a:off x="731520" y="5680253"/>
            <a:ext cx="169164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Accuracy</a:t>
            </a:r>
            <a:endParaRPr lang="en-US" sz="1400" dirty="0"/>
          </a:p>
        </p:txBody>
      </p:sp>
      <p:sp>
        <p:nvSpPr>
          <p:cNvPr id="9" name="final-stat-2"/>
          <p:cNvSpPr/>
          <p:nvPr/>
        </p:nvSpPr>
        <p:spPr>
          <a:xfrm>
            <a:off x="2807208" y="4937760"/>
            <a:ext cx="205740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final-stat-2-num"/>
          <p:cNvSpPr txBox="1"/>
          <p:nvPr/>
        </p:nvSpPr>
        <p:spPr>
          <a:xfrm>
            <a:off x="2990088" y="5047488"/>
            <a:ext cx="169164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0.763</a:t>
            </a:r>
            <a:endParaRPr lang="en-US" sz="3200" dirty="0"/>
          </a:p>
        </p:txBody>
      </p:sp>
      <p:sp>
        <p:nvSpPr>
          <p:cNvPr id="11" name="final-stat-2-label"/>
          <p:cNvSpPr txBox="1"/>
          <p:nvPr/>
        </p:nvSpPr>
        <p:spPr>
          <a:xfrm>
            <a:off x="2990088" y="5680253"/>
            <a:ext cx="169164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Precision</a:t>
            </a:r>
            <a:endParaRPr lang="en-US" sz="1400" dirty="0"/>
          </a:p>
        </p:txBody>
      </p:sp>
      <p:sp>
        <p:nvSpPr>
          <p:cNvPr id="12" name="final-stat-3"/>
          <p:cNvSpPr/>
          <p:nvPr/>
        </p:nvSpPr>
        <p:spPr>
          <a:xfrm>
            <a:off x="5065776" y="4937760"/>
            <a:ext cx="205740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final-stat-3-num"/>
          <p:cNvSpPr txBox="1"/>
          <p:nvPr/>
        </p:nvSpPr>
        <p:spPr>
          <a:xfrm>
            <a:off x="5248656" y="5047488"/>
            <a:ext cx="169164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0.712</a:t>
            </a:r>
            <a:endParaRPr lang="en-US" sz="3200" dirty="0"/>
          </a:p>
        </p:txBody>
      </p:sp>
      <p:sp>
        <p:nvSpPr>
          <p:cNvPr id="14" name="final-stat-3-label"/>
          <p:cNvSpPr txBox="1"/>
          <p:nvPr/>
        </p:nvSpPr>
        <p:spPr>
          <a:xfrm>
            <a:off x="5248656" y="5680253"/>
            <a:ext cx="169164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Recall</a:t>
            </a:r>
            <a:endParaRPr lang="en-US" sz="1400" dirty="0"/>
          </a:p>
        </p:txBody>
      </p:sp>
      <p:sp>
        <p:nvSpPr>
          <p:cNvPr id="15" name="final-stat-4"/>
          <p:cNvSpPr/>
          <p:nvPr/>
        </p:nvSpPr>
        <p:spPr>
          <a:xfrm>
            <a:off x="7324344" y="4937760"/>
            <a:ext cx="205740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final-stat-4-num"/>
          <p:cNvSpPr txBox="1"/>
          <p:nvPr/>
        </p:nvSpPr>
        <p:spPr>
          <a:xfrm>
            <a:off x="7507224" y="5047488"/>
            <a:ext cx="169164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34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0.736</a:t>
            </a:r>
            <a:endParaRPr lang="en-US" sz="3200" dirty="0"/>
          </a:p>
        </p:txBody>
      </p:sp>
      <p:sp>
        <p:nvSpPr>
          <p:cNvPr id="17" name="final-stat-4-label"/>
          <p:cNvSpPr txBox="1"/>
          <p:nvPr/>
        </p:nvSpPr>
        <p:spPr>
          <a:xfrm>
            <a:off x="7507224" y="5680253"/>
            <a:ext cx="169164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F1-score</a:t>
            </a:r>
            <a:endParaRPr lang="en-US" sz="1400" dirty="0"/>
          </a:p>
        </p:txBody>
      </p:sp>
      <p:sp>
        <p:nvSpPr>
          <p:cNvPr id="18" name="final-stat-5"/>
          <p:cNvSpPr/>
          <p:nvPr/>
        </p:nvSpPr>
        <p:spPr>
          <a:xfrm>
            <a:off x="9582912" y="4937760"/>
            <a:ext cx="205740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final-stat-5-num"/>
          <p:cNvSpPr txBox="1"/>
          <p:nvPr/>
        </p:nvSpPr>
        <p:spPr>
          <a:xfrm>
            <a:off x="9765792" y="5047488"/>
            <a:ext cx="1691640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0.844</a:t>
            </a:r>
            <a:endParaRPr lang="en-US" sz="3200" dirty="0"/>
          </a:p>
        </p:txBody>
      </p:sp>
      <p:sp>
        <p:nvSpPr>
          <p:cNvPr id="20" name="final-stat-5-label"/>
          <p:cNvSpPr txBox="1"/>
          <p:nvPr/>
        </p:nvSpPr>
        <p:spPr>
          <a:xfrm>
            <a:off x="9765792" y="5680253"/>
            <a:ext cx="169164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ROC-AUC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Where the model fails</a:t>
            </a:r>
            <a:endParaRPr lang="en-US" sz="3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8580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94360"/>
                <a:gridCol w="960120"/>
                <a:gridCol w="21031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Tweet (excerpt)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True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P(disaster)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Likely reason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2"/>
                          </a:solidFill>
                        </a:rPr>
                        <a:t>all that panicking made me tired ;__; i want to sleep in my bed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2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2"/>
                          </a:solidFill>
                        </a:rPr>
                        <a:t>0.01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2"/>
                          </a:solidFill>
                        </a:rPr>
                        <a:t>Label looks wrong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2"/>
                          </a:solidFill>
                        </a:rPr>
                        <a:t>@allen_enbot If you mess up it’s gonna explode...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2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2"/>
                          </a:solidFill>
                        </a:rPr>
                        <a:t>0.03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2"/>
                          </a:solidFill>
                        </a:rPr>
                        <a:t>Figurative; label doubtful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2"/>
                          </a:solidFill>
                        </a:rPr>
                        <a:t>White family … gets blown up in a horrible CGI nuclear strike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2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2"/>
                          </a:solidFill>
                        </a:rPr>
                        <a:t>0.03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2"/>
                          </a:solidFill>
                        </a:rPr>
                        <a:t>Film commentary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2"/>
                          </a:solidFill>
                        </a:rPr>
                        <a:t>Santa Fe Springs Studebaker Rd / South St Trfc Collision-No Inj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2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2"/>
                          </a:solidFill>
                        </a:rPr>
                        <a:t>0.96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2"/>
                          </a:solidFill>
                        </a:rPr>
                        <a:t>News-style alert labelled 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err-caption"/>
          <p:cNvSpPr txBox="1"/>
          <p:nvPr/>
        </p:nvSpPr>
        <p:spPr>
          <a:xfrm>
            <a:off x="548640" y="54864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Most confident mistakes on the test set: several look like label noise rather than model error.</a:t>
            </a:r>
            <a:endParaRPr lang="en-US" sz="1400" dirty="0"/>
          </a:p>
        </p:txBody>
      </p:sp>
      <p:sp>
        <p:nvSpPr>
          <p:cNvPr id="5" name="lim-1-circle"/>
          <p:cNvSpPr/>
          <p:nvPr/>
        </p:nvSpPr>
        <p:spPr>
          <a:xfrm>
            <a:off x="7772400" y="1417320"/>
            <a:ext cx="685800" cy="685800"/>
          </a:xfrm>
          <a:prstGeom prst="ellipse">
            <a:avLst/>
          </a:prstGeom>
          <a:solidFill>
            <a:srgbClr val="E34A33"/>
          </a:solidFill>
          <a:ln w="12700">
            <a:solidFill>
              <a:srgbClr val="E34A33"/>
            </a:solidFill>
            <a:prstDash val="solid"/>
          </a:ln>
        </p:spPr>
      </p:sp>
      <p:pic>
        <p:nvPicPr>
          <p:cNvPr id="6" name="lim-1-icon" descr="Brai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76" y="1568196"/>
            <a:ext cx="384048" cy="384048"/>
          </a:xfrm>
          <a:prstGeom prst="rect">
            <a:avLst/>
          </a:prstGeom>
        </p:spPr>
      </p:pic>
      <p:sp>
        <p:nvSpPr>
          <p:cNvPr id="7" name="lim-1-head"/>
          <p:cNvSpPr txBox="1"/>
          <p:nvPr/>
        </p:nvSpPr>
        <p:spPr>
          <a:xfrm>
            <a:off x="8686800" y="1399032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Metaphor and sarcasm</a:t>
            </a:r>
            <a:endParaRPr lang="en-US" sz="1700" dirty="0"/>
          </a:p>
        </p:txBody>
      </p:sp>
      <p:sp>
        <p:nvSpPr>
          <p:cNvPr id="8" name="lim-1-desc"/>
          <p:cNvSpPr txBox="1"/>
          <p:nvPr/>
        </p:nvSpPr>
        <p:spPr>
          <a:xfrm>
            <a:off x="8686800" y="1764792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Bag-of-words cannot read intent</a:t>
            </a:r>
            <a:endParaRPr lang="en-US" sz="1400" dirty="0"/>
          </a:p>
        </p:txBody>
      </p:sp>
      <p:sp>
        <p:nvSpPr>
          <p:cNvPr id="9" name="lim-2-circle"/>
          <p:cNvSpPr/>
          <p:nvPr/>
        </p:nvSpPr>
        <p:spPr>
          <a:xfrm>
            <a:off x="7772400" y="2606040"/>
            <a:ext cx="685800" cy="6858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0" name="lim-2-icon" descr="Tag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6" y="2756916"/>
            <a:ext cx="384048" cy="384048"/>
          </a:xfrm>
          <a:prstGeom prst="rect">
            <a:avLst/>
          </a:prstGeom>
        </p:spPr>
      </p:pic>
      <p:sp>
        <p:nvSpPr>
          <p:cNvPr id="11" name="lim-2-head"/>
          <p:cNvSpPr txBox="1"/>
          <p:nvPr/>
        </p:nvSpPr>
        <p:spPr>
          <a:xfrm>
            <a:off x="8686800" y="2587752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Noisy labels</a:t>
            </a:r>
            <a:endParaRPr lang="en-US" sz="1700" dirty="0"/>
          </a:p>
        </p:txBody>
      </p:sp>
      <p:sp>
        <p:nvSpPr>
          <p:cNvPr id="12" name="lim-2-desc"/>
          <p:cNvSpPr txBox="1"/>
          <p:nvPr/>
        </p:nvSpPr>
        <p:spPr>
          <a:xfrm>
            <a:off x="8686800" y="2953512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Identical tweets with opposite labels cap accuracy</a:t>
            </a:r>
            <a:endParaRPr lang="en-US" sz="1400" dirty="0"/>
          </a:p>
        </p:txBody>
      </p:sp>
      <p:sp>
        <p:nvSpPr>
          <p:cNvPr id="13" name="lim-3-circle"/>
          <p:cNvSpPr/>
          <p:nvPr/>
        </p:nvSpPr>
        <p:spPr>
          <a:xfrm>
            <a:off x="7772400" y="3794760"/>
            <a:ext cx="685800" cy="685800"/>
          </a:xfrm>
          <a:prstGeom prst="ellipse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pic>
        <p:nvPicPr>
          <p:cNvPr id="14" name="lim-3-icon" descr="ChartLin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276" y="3945636"/>
            <a:ext cx="384048" cy="384048"/>
          </a:xfrm>
          <a:prstGeom prst="rect">
            <a:avLst/>
          </a:prstGeom>
        </p:spPr>
      </p:pic>
      <p:sp>
        <p:nvSpPr>
          <p:cNvPr id="15" name="lim-3-head"/>
          <p:cNvSpPr txBox="1"/>
          <p:nvPr/>
        </p:nvSpPr>
        <p:spPr>
          <a:xfrm>
            <a:off x="8686800" y="3776472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Overfitting</a:t>
            </a:r>
            <a:endParaRPr lang="en-US" sz="1700" dirty="0"/>
          </a:p>
        </p:txBody>
      </p:sp>
      <p:sp>
        <p:nvSpPr>
          <p:cNvPr id="16" name="lim-3-desc"/>
          <p:cNvSpPr txBox="1"/>
          <p:nvPr/>
        </p:nvSpPr>
        <p:spPr>
          <a:xfrm>
            <a:off x="8686800" y="4142232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Train F1 0.98 vs test 0.74</a:t>
            </a:r>
            <a:endParaRPr lang="en-US" sz="1400" dirty="0"/>
          </a:p>
        </p:txBody>
      </p:sp>
      <p:sp>
        <p:nvSpPr>
          <p:cNvPr id="17" name="lim-4-circle"/>
          <p:cNvSpPr/>
          <p:nvPr/>
        </p:nvSpPr>
        <p:spPr>
          <a:xfrm>
            <a:off x="7772400" y="4983480"/>
            <a:ext cx="685800" cy="685800"/>
          </a:xfrm>
          <a:prstGeom prst="ellipse">
            <a:avLst/>
          </a:prstGeom>
          <a:solidFill>
            <a:srgbClr val="2E9E83"/>
          </a:solidFill>
          <a:ln w="12700">
            <a:solidFill>
              <a:srgbClr val="2E9E83"/>
            </a:solidFill>
            <a:prstDash val="solid"/>
          </a:ln>
        </p:spPr>
      </p:sp>
      <p:pic>
        <p:nvPicPr>
          <p:cNvPr id="18" name="lim-4-icon" descr="Twitter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3276" y="5134356"/>
            <a:ext cx="384048" cy="384048"/>
          </a:xfrm>
          <a:prstGeom prst="rect">
            <a:avLst/>
          </a:prstGeom>
        </p:spPr>
      </p:pic>
      <p:sp>
        <p:nvSpPr>
          <p:cNvPr id="19" name="lim-4-head"/>
          <p:cNvSpPr txBox="1"/>
          <p:nvPr/>
        </p:nvSpPr>
        <p:spPr>
          <a:xfrm>
            <a:off x="8686800" y="4965192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Dated data</a:t>
            </a:r>
            <a:endParaRPr lang="en-US" sz="1700" dirty="0"/>
          </a:p>
        </p:txBody>
      </p:sp>
      <p:sp>
        <p:nvSpPr>
          <p:cNvPr id="20" name="lim-4-desc"/>
          <p:cNvSpPr txBox="1"/>
          <p:nvPr/>
        </p:nvSpPr>
        <p:spPr>
          <a:xfrm>
            <a:off x="8686800" y="5330952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2015-era tweets; new slang may be missed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Live app on Streamlit Cloud</a:t>
            </a:r>
            <a:endParaRPr lang="en-US" sz="3400" dirty="0"/>
          </a:p>
        </p:txBody>
      </p:sp>
      <p:pic>
        <p:nvPicPr>
          <p:cNvPr id="3" name="shot-classify" descr="Screenshot of the Classify tab with a tweet, keyword and threshold sli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394960" cy="3729849"/>
          </a:xfrm>
          <a:prstGeom prst="rect">
            <a:avLst/>
          </a:prstGeom>
        </p:spPr>
      </p:pic>
      <p:pic>
        <p:nvPicPr>
          <p:cNvPr id="4" name="shot-about" descr="Screenshot of the About the model tab with test metrics and limitat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5" y="1325880"/>
            <a:ext cx="5394960" cy="3648168"/>
          </a:xfrm>
          <a:prstGeom prst="rect">
            <a:avLst/>
          </a:prstGeom>
        </p:spPr>
      </p:pic>
      <p:sp>
        <p:nvSpPr>
          <p:cNvPr id="5" name="shot-classify-border"/>
          <p:cNvSpPr/>
          <p:nvPr/>
        </p:nvSpPr>
        <p:spPr>
          <a:xfrm>
            <a:off x="548640" y="1325880"/>
            <a:ext cx="5394960" cy="3729849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shot-about-border"/>
          <p:cNvSpPr/>
          <p:nvPr/>
        </p:nvSpPr>
        <p:spPr>
          <a:xfrm>
            <a:off x="6248095" y="1325880"/>
            <a:ext cx="5394960" cy="3648168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cap-classify"/>
          <p:cNvSpPr txBox="1"/>
          <p:nvPr/>
        </p:nvSpPr>
        <p:spPr>
          <a:xfrm>
            <a:off x="548640" y="513892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Classify a tweet: text, optional keyword, adjustable decision threshold</a:t>
            </a:r>
            <a:endParaRPr lang="en-US" sz="1200" dirty="0"/>
          </a:p>
        </p:txBody>
      </p:sp>
      <p:sp>
        <p:nvSpPr>
          <p:cNvPr id="8" name="cap-about"/>
          <p:cNvSpPr txBox="1"/>
          <p:nvPr/>
        </p:nvSpPr>
        <p:spPr>
          <a:xfrm>
            <a:off x="6248095" y="513892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About the model: test metrics and known limitations (plus Batch CSV tab)</a:t>
            </a:r>
            <a:endParaRPr lang="en-US" sz="1200" dirty="0"/>
          </a:p>
        </p:txBody>
      </p:sp>
      <p:sp>
        <p:nvSpPr>
          <p:cNvPr id="9" name="live-bar"/>
          <p:cNvSpPr/>
          <p:nvPr/>
        </p:nvSpPr>
        <p:spPr>
          <a:xfrm>
            <a:off x="548640" y="5577840"/>
            <a:ext cx="11094415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live-url"/>
          <p:cNvSpPr txBox="1"/>
          <p:nvPr/>
        </p:nvSpPr>
        <p:spPr>
          <a:xfrm>
            <a:off x="822960" y="55778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Live app:  </a:t>
            </a:r>
            <a:pPr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hlinkClick r:id="rId3" invalidUrl="" action="" tgtFrame="" tooltip="Open the live ap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https://disastertweetclassification-n.streamlit.app/</a:t>
            </a:r>
            <a:endParaRPr lang="en-US" sz="1600" dirty="0"/>
          </a:p>
        </p:txBody>
      </p:sp>
      <p:sp>
        <p:nvSpPr>
          <p:cNvPr id="11" name="live-stack"/>
          <p:cNvSpPr txBox="1"/>
          <p:nvPr/>
        </p:nvSpPr>
        <p:spPr>
          <a:xfrm>
            <a:off x="7406640" y="557784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Streamlit Cloud  |  GitHub  |  scikit-learn pipeline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Conclusions and next steps</a:t>
            </a:r>
            <a:endParaRPr lang="en-US" sz="3400" dirty="0"/>
          </a:p>
        </p:txBody>
      </p:sp>
      <p:sp>
        <p:nvSpPr>
          <p:cNvPr id="3" name="concl-head-1"/>
          <p:cNvSpPr txBox="1"/>
          <p:nvPr/>
        </p:nvSpPr>
        <p:spPr>
          <a:xfrm>
            <a:off x="548640" y="141732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delivered</a:t>
            </a:r>
            <a:endParaRPr lang="en-US" sz="2200" dirty="0"/>
          </a:p>
        </p:txBody>
      </p:sp>
      <p:sp>
        <p:nvSpPr>
          <p:cNvPr id="4" name="concl-l-1-circle"/>
          <p:cNvSpPr/>
          <p:nvPr/>
        </p:nvSpPr>
        <p:spPr>
          <a:xfrm>
            <a:off x="548640" y="2057400"/>
            <a:ext cx="457200" cy="457200"/>
          </a:xfrm>
          <a:prstGeom prst="ellipse">
            <a:avLst/>
          </a:prstGeom>
          <a:solidFill>
            <a:srgbClr val="2E9E83"/>
          </a:solidFill>
          <a:ln w="12700">
            <a:solidFill>
              <a:srgbClr val="2E9E83"/>
            </a:solidFill>
            <a:prstDash val="solid"/>
          </a:ln>
        </p:spPr>
      </p:sp>
      <p:pic>
        <p:nvPicPr>
          <p:cNvPr id="5" name="concl-l-1-icon" descr="CheckCirc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157984"/>
            <a:ext cx="256032" cy="256032"/>
          </a:xfrm>
          <a:prstGeom prst="rect">
            <a:avLst/>
          </a:prstGeom>
        </p:spPr>
      </p:pic>
      <p:sp>
        <p:nvSpPr>
          <p:cNvPr id="6" name="concl-l-1-text"/>
          <p:cNvSpPr txBox="1"/>
          <p:nvPr/>
        </p:nvSpPr>
        <p:spPr>
          <a:xfrm>
            <a:off x="1234440" y="20116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Full EDA with 17 charts and a documented set of insights</a:t>
            </a:r>
            <a:endParaRPr lang="en-US" sz="1700" dirty="0"/>
          </a:p>
        </p:txBody>
      </p:sp>
      <p:sp>
        <p:nvSpPr>
          <p:cNvPr id="7" name="concl-l-2-circle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2E9E83"/>
          </a:solidFill>
          <a:ln w="12700">
            <a:solidFill>
              <a:srgbClr val="2E9E83"/>
            </a:solidFill>
            <a:prstDash val="solid"/>
          </a:ln>
        </p:spPr>
      </p:sp>
      <p:pic>
        <p:nvPicPr>
          <p:cNvPr id="8" name="concl-l-2-icon" descr="CheckCircl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3026664"/>
            <a:ext cx="256032" cy="256032"/>
          </a:xfrm>
          <a:prstGeom prst="rect">
            <a:avLst/>
          </a:prstGeom>
        </p:spPr>
      </p:pic>
      <p:sp>
        <p:nvSpPr>
          <p:cNvPr id="9" name="concl-l-2-text"/>
          <p:cNvSpPr txBox="1"/>
          <p:nvPr/>
        </p:nvSpPr>
        <p:spPr>
          <a:xfrm>
            <a:off x="1234440" y="28803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Tuned Linear SVM: F1 0.736, ROC-AUC 0.844 on held-out tweets</a:t>
            </a:r>
            <a:endParaRPr lang="en-US" sz="1700" dirty="0"/>
          </a:p>
        </p:txBody>
      </p:sp>
      <p:sp>
        <p:nvSpPr>
          <p:cNvPr id="10" name="concl-l-3-circle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2E9E83"/>
          </a:solidFill>
          <a:ln w="12700">
            <a:solidFill>
              <a:srgbClr val="2E9E83"/>
            </a:solidFill>
            <a:prstDash val="solid"/>
          </a:ln>
        </p:spPr>
      </p:sp>
      <p:pic>
        <p:nvPicPr>
          <p:cNvPr id="11" name="concl-l-3-icon" descr="CheckCirc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3895344"/>
            <a:ext cx="256032" cy="256032"/>
          </a:xfrm>
          <a:prstGeom prst="rect">
            <a:avLst/>
          </a:prstGeom>
        </p:spPr>
      </p:pic>
      <p:sp>
        <p:nvSpPr>
          <p:cNvPr id="12" name="concl-l-3-text"/>
          <p:cNvSpPr txBox="1"/>
          <p:nvPr/>
        </p:nvSpPr>
        <p:spPr>
          <a:xfrm>
            <a:off x="1234440" y="37490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Streamlit and Flask apps with single and batch scoring</a:t>
            </a:r>
            <a:endParaRPr lang="en-US" sz="1700" dirty="0"/>
          </a:p>
        </p:txBody>
      </p:sp>
      <p:sp>
        <p:nvSpPr>
          <p:cNvPr id="13" name="concl-l-4-circle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2E9E83"/>
          </a:solidFill>
          <a:ln w="12700">
            <a:solidFill>
              <a:srgbClr val="2E9E83"/>
            </a:solidFill>
            <a:prstDash val="solid"/>
          </a:ln>
        </p:spPr>
      </p:sp>
      <p:pic>
        <p:nvPicPr>
          <p:cNvPr id="14" name="concl-l-4-icon" descr="CheckCircl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4764024"/>
            <a:ext cx="256032" cy="256032"/>
          </a:xfrm>
          <a:prstGeom prst="rect">
            <a:avLst/>
          </a:prstGeom>
        </p:spPr>
      </p:pic>
      <p:sp>
        <p:nvSpPr>
          <p:cNvPr id="15" name="concl-l-4-text"/>
          <p:cNvSpPr txBox="1"/>
          <p:nvPr/>
        </p:nvSpPr>
        <p:spPr>
          <a:xfrm>
            <a:off x="1234440" y="46177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Reproducible GitHub repo, notebooks and pinned dependencies</a:t>
            </a:r>
            <a:endParaRPr lang="en-US" sz="1700" dirty="0"/>
          </a:p>
        </p:txBody>
      </p:sp>
      <p:sp>
        <p:nvSpPr>
          <p:cNvPr id="16" name="concl-head-2"/>
          <p:cNvSpPr txBox="1"/>
          <p:nvPr/>
        </p:nvSpPr>
        <p:spPr>
          <a:xfrm>
            <a:off x="6385255" y="141732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17" name="concl-r-1-circle"/>
          <p:cNvSpPr/>
          <p:nvPr/>
        </p:nvSpPr>
        <p:spPr>
          <a:xfrm>
            <a:off x="6385255" y="2057400"/>
            <a:ext cx="457200" cy="457200"/>
          </a:xfrm>
          <a:prstGeom prst="ellipse">
            <a:avLst/>
          </a:prstGeom>
          <a:solidFill>
            <a:srgbClr val="E34A33"/>
          </a:solidFill>
          <a:ln w="12700">
            <a:solidFill>
              <a:srgbClr val="E34A33"/>
            </a:solidFill>
            <a:prstDash val="solid"/>
          </a:ln>
        </p:spPr>
      </p:sp>
      <p:pic>
        <p:nvPicPr>
          <p:cNvPr id="18" name="concl-r-1-icon" descr="ArrowRigh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5839" y="2157984"/>
            <a:ext cx="256032" cy="256032"/>
          </a:xfrm>
          <a:prstGeom prst="rect">
            <a:avLst/>
          </a:prstGeom>
        </p:spPr>
      </p:pic>
      <p:sp>
        <p:nvSpPr>
          <p:cNvPr id="19" name="concl-r-1-text"/>
          <p:cNvSpPr txBox="1"/>
          <p:nvPr/>
        </p:nvSpPr>
        <p:spPr>
          <a:xfrm>
            <a:off x="7071055" y="20116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Add digit presence and URL-pattern features found in the EDA</a:t>
            </a:r>
            <a:endParaRPr lang="en-US" sz="1700" dirty="0"/>
          </a:p>
        </p:txBody>
      </p:sp>
      <p:sp>
        <p:nvSpPr>
          <p:cNvPr id="20" name="concl-r-2-circle"/>
          <p:cNvSpPr/>
          <p:nvPr/>
        </p:nvSpPr>
        <p:spPr>
          <a:xfrm>
            <a:off x="6385255" y="2926080"/>
            <a:ext cx="457200" cy="457200"/>
          </a:xfrm>
          <a:prstGeom prst="ellipse">
            <a:avLst/>
          </a:prstGeom>
          <a:solidFill>
            <a:srgbClr val="E34A33"/>
          </a:solidFill>
          <a:ln w="12700">
            <a:solidFill>
              <a:srgbClr val="E34A33"/>
            </a:solidFill>
            <a:prstDash val="solid"/>
          </a:ln>
        </p:spPr>
      </p:sp>
      <p:pic>
        <p:nvPicPr>
          <p:cNvPr id="21" name="concl-r-2-icon" descr="ArrowRight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5839" y="3026664"/>
            <a:ext cx="256032" cy="256032"/>
          </a:xfrm>
          <a:prstGeom prst="rect">
            <a:avLst/>
          </a:prstGeom>
        </p:spPr>
      </p:pic>
      <p:sp>
        <p:nvSpPr>
          <p:cNvPr id="22" name="concl-r-2-text"/>
          <p:cNvSpPr txBox="1"/>
          <p:nvPr/>
        </p:nvSpPr>
        <p:spPr>
          <a:xfrm>
            <a:off x="7071055" y="28803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Test GloVe features or fine-tune BERTweet for context</a:t>
            </a:r>
            <a:endParaRPr lang="en-US" sz="1700" dirty="0"/>
          </a:p>
        </p:txBody>
      </p:sp>
      <p:sp>
        <p:nvSpPr>
          <p:cNvPr id="23" name="concl-r-3-circle"/>
          <p:cNvSpPr/>
          <p:nvPr/>
        </p:nvSpPr>
        <p:spPr>
          <a:xfrm>
            <a:off x="6385255" y="3794760"/>
            <a:ext cx="457200" cy="457200"/>
          </a:xfrm>
          <a:prstGeom prst="ellipse">
            <a:avLst/>
          </a:prstGeom>
          <a:solidFill>
            <a:srgbClr val="E34A33"/>
          </a:solidFill>
          <a:ln w="12700">
            <a:solidFill>
              <a:srgbClr val="E34A33"/>
            </a:solidFill>
            <a:prstDash val="solid"/>
          </a:ln>
        </p:spPr>
      </p:sp>
      <p:pic>
        <p:nvPicPr>
          <p:cNvPr id="24" name="concl-r-3-icon" descr="ArrowRight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5839" y="3895344"/>
            <a:ext cx="256032" cy="256032"/>
          </a:xfrm>
          <a:prstGeom prst="rect">
            <a:avLst/>
          </a:prstGeom>
        </p:spPr>
      </p:pic>
      <p:sp>
        <p:nvSpPr>
          <p:cNvPr id="25" name="concl-r-3-text"/>
          <p:cNvSpPr txBox="1"/>
          <p:nvPr/>
        </p:nvSpPr>
        <p:spPr>
          <a:xfrm>
            <a:off x="7071055" y="37490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Review conflicting labels and re-measure the ceiling</a:t>
            </a:r>
            <a:endParaRPr lang="en-US" sz="1700" dirty="0"/>
          </a:p>
        </p:txBody>
      </p:sp>
      <p:sp>
        <p:nvSpPr>
          <p:cNvPr id="26" name="concl-r-4-circle"/>
          <p:cNvSpPr/>
          <p:nvPr/>
        </p:nvSpPr>
        <p:spPr>
          <a:xfrm>
            <a:off x="6385255" y="4663440"/>
            <a:ext cx="457200" cy="457200"/>
          </a:xfrm>
          <a:prstGeom prst="ellipse">
            <a:avLst/>
          </a:prstGeom>
          <a:solidFill>
            <a:srgbClr val="E34A33"/>
          </a:solidFill>
          <a:ln w="12700">
            <a:solidFill>
              <a:srgbClr val="E34A33"/>
            </a:solidFill>
            <a:prstDash val="solid"/>
          </a:ln>
        </p:spPr>
      </p:sp>
      <p:pic>
        <p:nvPicPr>
          <p:cNvPr id="27" name="concl-r-4-icon" descr="ArrowRight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5839" y="4764024"/>
            <a:ext cx="256032" cy="256032"/>
          </a:xfrm>
          <a:prstGeom prst="rect">
            <a:avLst/>
          </a:prstGeom>
        </p:spPr>
      </p:pic>
      <p:sp>
        <p:nvSpPr>
          <p:cNvPr id="28" name="concl-r-4-text"/>
          <p:cNvSpPr txBox="1"/>
          <p:nvPr/>
        </p:nvSpPr>
        <p:spPr>
          <a:xfrm>
            <a:off x="7071055" y="46177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Tune the alert threshold with the relief-agency cost of misses</a:t>
            </a:r>
            <a:endParaRPr lang="en-US" sz="1700" dirty="0"/>
          </a:p>
        </p:txBody>
      </p:sp>
      <p:sp>
        <p:nvSpPr>
          <p:cNvPr id="29" name="concl-url-bar"/>
          <p:cNvSpPr/>
          <p:nvPr/>
        </p:nvSpPr>
        <p:spPr>
          <a:xfrm>
            <a:off x="548640" y="5669280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concl-url"/>
          <p:cNvSpPr txBox="1"/>
          <p:nvPr/>
        </p:nvSpPr>
        <p:spPr>
          <a:xfrm>
            <a:off x="822960" y="566928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Try it live:  </a:t>
            </a:r>
            <a:pPr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hlinkClick r:id="rId9" invalidUrl="" action="" tgtFrame="" tooltip="Open the live ap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https://disastertweetclassification-n.streamlit.app/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saster Alert">
  <a:themeElements>
    <a:clrScheme name="Disaster Alert">
      <a:dk1>
        <a:srgbClr val="1B2432"/>
      </a:dk1>
      <a:lt1>
        <a:srgbClr val="FFFFFF"/>
      </a:lt1>
      <a:dk2>
        <a:srgbClr val="2B3A55"/>
      </a:dk2>
      <a:lt2>
        <a:srgbClr val="F1F4F9"/>
      </a:lt2>
      <a:accent1>
        <a:srgbClr val="E34A33"/>
      </a:accent1>
      <a:accent2>
        <a:srgbClr val="4C72B0"/>
      </a:accent2>
      <a:accent3>
        <a:srgbClr val="F2A541"/>
      </a:accent3>
      <a:accent4>
        <a:srgbClr val="2E9E83"/>
      </a:accent4>
      <a:accent5>
        <a:srgbClr val="7A869A"/>
      </a:accent5>
      <a:accent6>
        <a:srgbClr val="B0413E"/>
      </a:accent6>
      <a:hlink>
        <a:srgbClr val="2C55A0"/>
      </a:hlink>
      <a:folHlink>
        <a:srgbClr val="2C55A0"/>
      </a:folHlink>
    </a:clrScheme>
    <a:fontScheme name="Disaster Aler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Next Hikes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Disaster Tweet Classification - Project Report</dc:title>
  <dc:subject>PptxGenJS Presentation</dc:subject>
  <dc:creator>Ashish Kumar</dc:creator>
  <cp:lastModifiedBy>Ashish Kumar</cp:lastModifiedBy>
  <cp:revision>1</cp:revision>
  <dcterms:created xsi:type="dcterms:W3CDTF">2026-10-15T19:35:04Z</dcterms:created>
  <dcterms:modified xsi:type="dcterms:W3CDTF">2026-10-15T19:35:04Z</dcterms:modified>
</cp:coreProperties>
</file>